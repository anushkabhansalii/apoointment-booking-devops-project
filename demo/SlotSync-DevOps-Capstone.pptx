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279d897-8f53-0f46-8ea2-82e971d33c56}">
          <p14:sldIdLst>
            <p14:sldId id="256"/>
            <p14:sldId id="257"/>
            <p14:sldId id="258"/>
            <p14:sldId id="259"/>
          </p14:sldIdLst>
        </p14:section>
        <p14:section name="Application" id="{a8265ffa-408e-3728-36ff-524255241c4d}">
          <p14:sldIdLst>
            <p14:sldId id="260"/>
            <p14:sldId id="261"/>
          </p14:sldIdLst>
        </p14:section>
        <p14:section name="Delivery" id="{2fb7b0cc-dfe1-7f69-d2bf-d165497079c8}">
          <p14:sldIdLst>
            <p14:sldId id="262"/>
            <p14:sldId id="263"/>
          </p14:sldIdLst>
        </p14:section>
        <p14:section name="Infrastructure" id="{e82cf600-672f-4c00-21be-0a4802d2e1fb}">
          <p14:sldIdLst>
            <p14:sldId id="264"/>
            <p14:sldId id="265"/>
            <p14:sldId id="266"/>
          </p14:sldIdLst>
        </p14:section>
        <p14:section name="Operations" id="{704d3507-3215-c9a0-72e3-bd3fc1367dc5}">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Anushka. My capstone is SlotSync, an appointment booking system for a wellness studio, and the full DevOps platform that takes it from a git push to a monitored Kubernetes cluster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Front-desk staff see today's KPIs, a timeline per practitioner and a filterable list. The interesting part is the delivery platform: tests, security scans, images, Terraform, Kubernetes, GitOps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and React for the app; Docker, GitHub Actions and GHCR for delivery; Trivy and Gitleaks for security; Terraform on AWS for infrastructure; Helm and Argo CD for deployment; Prometheus and Grafana for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GitHub side. A push runs the gates, builds and scans images, pushes them to GHCR and commits the new SHA into the GitOps values file. Right: AWS. Terraform builds the VPC and EKS; Argo CD watches Git and syncs the cluster; the NLB and ingress-nginx route slash to the frontend and slash-api to the backend; Prometheus scrapes the backend and Grafana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enforces the business rules, which the UI shows inline - here a double-booking attempt gets a 409 with a readable message. Tests use a throwaway SQLite database through FastAPI dependency overrides, so they never touch Postgres.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multi-stage and run as non-root users. Compose brings up Postgres, then the API, then the frontend, each gated on a healthcheck.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workflow on every push to main. Nothing is pushed until every gate passes. Images are tagged with the full commit SHA, never latest, so any running pod traces back to its exact commit. Third-party actions are pinned to commit SHAs.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reads the OS and Python package metadata inside the image and matches versions against vulnerability feeds. Our first scan found seven HIGH issues; the Starlette one let a single crafted Range header burn CPU. We upgraded and removed pip from the runtime image, and the gate now passes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the network and cluster; the community VPC and EKS modules keep it short. The plan creates 61 resources. The EBS CSI driver gets its AWS permissions through Pod Identity, so there are no static keys in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packages the whole application. The values files switch between local minikube, EKS and GitOps. kubectl shows every pod Running with at least two replicas of each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 CD watches the values-gitops file on main. When the pipeline promotes a new SHA, Argo CD rolls the cluster forward on its own. Prune removes what was deleted from Git and self-heal undoes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shows the SlotSync backend targets as UP. The Grafana dashboard answers the operational questions: how much traffic, how fast, how many errors, how many bookings, and whether the HPA is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lessons: security scanning finds real issues, start-up ordering matters in Kubernetes, GitOps keeps credentials out of CI, and debugging cloud failures means reading the error, not retrying.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would be managed Postgres, TLS, staff login and request-based autoscaling.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SlotSync · DevOps Capstone · Anushka Jain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731520" y="3520440"/>
            <a:ext cx="10698480" cy="82296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731520" y="731520"/>
            <a:ext cx="731520" cy="731520"/>
          </a:xfrm>
          <a:prstGeom prst="ellipse">
            <a:avLst/>
          </a:prstGeom>
          <a:solidFill>
            <a:srgbClr val="6366F1"/>
          </a:solidFill>
          <a:ln w="12700">
            <a:solidFill>
              <a:srgbClr val="6366F1"/>
            </a:solidFill>
            <a:prstDash val="solid"/>
          </a:ln>
        </p:spPr>
      </p:sp>
      <p:pic>
        <p:nvPicPr>
          <p:cNvPr id="3" name="icon" descr="preencoded.png">    </p:cNvPr>
          <p:cNvPicPr>
            <a:picLocks noChangeAspect="1"/>
          </p:cNvPicPr>
          <p:nvPr/>
        </p:nvPicPr>
        <p:blipFill>
          <a:blip r:embed="rId1"/>
          <a:stretch>
            <a:fillRect/>
          </a:stretch>
        </p:blipFill>
        <p:spPr>
          <a:xfrm>
            <a:off x="907085" y="907085"/>
            <a:ext cx="380390" cy="380390"/>
          </a:xfrm>
          <a:prstGeom prst="rect">
            <a:avLst/>
          </a:prstGeom>
        </p:spPr>
      </p:pic>
      <p:sp>
        <p:nvSpPr>
          <p:cNvPr id="4" name="Text 1"/>
          <p:cNvSpPr txBox="1"/>
          <p:nvPr/>
        </p:nvSpPr>
        <p:spPr>
          <a:xfrm>
            <a:off x="731520" y="1828800"/>
            <a:ext cx="7315200" cy="1005840"/>
          </a:xfrm>
          <a:prstGeom prst="rect">
            <a:avLst/>
          </a:prstGeom>
          <a:noFill/>
          <a:ln/>
        </p:spPr>
        <p:txBody>
          <a:bodyPr wrap="square" lIns="0" tIns="0" rIns="0" bIns="0" rtlCol="0" anchor="ctr"/>
          <a:lstStyle/>
          <a:p>
            <a:pPr indent="0" marL="0">
              <a:buNone/>
            </a:pPr>
            <a:r>
              <a:rPr lang="en-US" sz="6000" b="1" dirty="0">
                <a:solidFill>
                  <a:schemeClr val="bg1"/>
                </a:solidFill>
              </a:rPr>
              <a:t>SlotSync</a:t>
            </a:r>
            <a:endParaRPr lang="en-US" sz="6000" dirty="0"/>
          </a:p>
        </p:txBody>
      </p:sp>
      <p:sp>
        <p:nvSpPr>
          <p:cNvPr id="5" name="Text 2"/>
          <p:cNvSpPr txBox="1"/>
          <p:nvPr/>
        </p:nvSpPr>
        <p:spPr>
          <a:xfrm>
            <a:off x="731520" y="2834640"/>
            <a:ext cx="6583680" cy="914400"/>
          </a:xfrm>
          <a:prstGeom prst="rect">
            <a:avLst/>
          </a:prstGeom>
          <a:noFill/>
          <a:ln/>
        </p:spPr>
        <p:txBody>
          <a:bodyPr wrap="square" lIns="0" tIns="0" rIns="0" bIns="0" rtlCol="0" anchor="ctr"/>
          <a:lstStyle/>
          <a:p>
            <a:pPr indent="0" marL="0">
              <a:buNone/>
            </a:pPr>
            <a:r>
              <a:rPr lang="en-US" sz="2400" dirty="0">
                <a:solidFill>
                  <a:srgbClr val="C7D2FE"/>
                </a:solidFill>
              </a:rPr>
              <a:t>Appointment booking, from laptop to a monitored Kubernetes cluster</a:t>
            </a:r>
            <a:endParaRPr lang="en-US" sz="2400" dirty="0"/>
          </a:p>
        </p:txBody>
      </p:sp>
      <p:sp>
        <p:nvSpPr>
          <p:cNvPr id="6" name="Text 3"/>
          <p:cNvSpPr txBox="1"/>
          <p:nvPr/>
        </p:nvSpPr>
        <p:spPr>
          <a:xfrm>
            <a:off x="731520" y="4754880"/>
            <a:ext cx="6858000" cy="1097280"/>
          </a:xfrm>
          <a:prstGeom prst="rect">
            <a:avLst/>
          </a:prstGeom>
          <a:noFill/>
          <a:ln/>
        </p:spPr>
        <p:txBody>
          <a:bodyPr wrap="square" lIns="0" tIns="0" rIns="0" bIns="0" rtlCol="0" anchor="ctr"/>
          <a:lstStyle/>
          <a:p>
            <a:pPr indent="0" marL="0">
              <a:buNone/>
            </a:pPr>
            <a:r>
              <a:rPr lang="en-US" sz="1500" b="1" dirty="0">
                <a:solidFill>
                  <a:srgbClr val="CBD5E1"/>
                </a:solidFill>
              </a:rPr>
              <a:t>DevOps Final Capstone</a:t>
            </a:r>
            <a:endParaRPr lang="en-US" sz="1500" dirty="0"/>
          </a:p>
          <a:p>
            <a:pPr indent="0" marL="0">
              <a:buNone/>
            </a:pPr>
            <a:r>
              <a:rPr lang="en-US" sz="1500" dirty="0">
                <a:solidFill>
                  <a:srgbClr val="CBD5E1"/>
                </a:solidFill>
              </a:rPr>
              <a:t>Anushka Jain · Scaler School of Technology · October 2026</a:t>
            </a:r>
            <a:endParaRPr lang="en-US" sz="1500" dirty="0"/>
          </a:p>
          <a:p>
            <a:pPr indent="0" marL="0">
              <a:buNone/>
            </a:pPr>
            <a:r>
              <a:rPr lang="en-US" sz="1500" dirty="0">
                <a:solidFill>
                  <a:srgbClr val="CBD5E1"/>
                </a:solidFill>
              </a:rPr>
              <a:t>github.com/anushkabhansalii/apoointment-booking-devops-project</a:t>
            </a:r>
            <a:endParaRPr lang="en-US" sz="1500" dirty="0"/>
          </a:p>
        </p:txBody>
      </p:sp>
      <p:sp>
        <p:nvSpPr>
          <p:cNvPr id="7" name="SlotSync dashboard frame"/>
          <p:cNvSpPr/>
          <p:nvPr/>
        </p:nvSpPr>
        <p:spPr>
          <a:xfrm>
            <a:off x="7626096" y="2088261"/>
            <a:ext cx="4224528" cy="2681478"/>
          </a:xfrm>
          <a:prstGeom prst="roundRect">
            <a:avLst>
              <a:gd name="adj" fmla="val 2728"/>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8" name="SlotSync dashboard" descr="SlotSync dashboard">    </p:cNvPr>
          <p:cNvPicPr>
            <a:picLocks noChangeAspect="1"/>
          </p:cNvPicPr>
          <p:nvPr/>
        </p:nvPicPr>
        <p:blipFill>
          <a:blip r:embed="rId2"/>
          <a:stretch>
            <a:fillRect/>
          </a:stretch>
        </p:blipFill>
        <p:spPr>
          <a:xfrm>
            <a:off x="7680960" y="2143125"/>
            <a:ext cx="4114800" cy="2571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What I built and why</a:t>
            </a:r>
            <a:endParaRPr lang="en-US" sz="3400" dirty="0"/>
          </a:p>
        </p:txBody>
      </p:sp>
      <p:sp>
        <p:nvSpPr>
          <p:cNvPr id="3" name="Text 1"/>
          <p:cNvSpPr txBox="1"/>
          <p:nvPr/>
        </p:nvSpPr>
        <p:spPr>
          <a:xfrm>
            <a:off x="548640" y="1325880"/>
            <a:ext cx="5120640" cy="329184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The problem: </a:t>
            </a:r>
            <a:pPr indent="0" marL="0">
              <a:buNone/>
            </a:pPr>
            <a:r>
              <a:rPr lang="en-US" sz="1600" dirty="0">
                <a:solidFill>
                  <a:schemeClr val="tx2"/>
                </a:solidFill>
              </a:rPr>
              <a:t>a 4-practitioner wellness studio double-books rooms and has no view of the day</a:t>
            </a:r>
            <a:endParaRPr lang="en-US" sz="1600" dirty="0"/>
          </a:p>
          <a:p>
            <a:pPr marL="228600" indent="-228600">
              <a:spcAft>
                <a:spcPts val="800"/>
              </a:spcAft>
              <a:buSzPct val="100000"/>
              <a:buChar char="•"/>
            </a:pPr>
            <a:r>
              <a:rPr lang="en-US" sz="1600" b="1" dirty="0">
                <a:solidFill>
                  <a:schemeClr val="tx1"/>
                </a:solidFill>
              </a:rPr>
              <a:t>The app: </a:t>
            </a:r>
            <a:pPr indent="0" marL="0">
              <a:buNone/>
            </a:pPr>
            <a:r>
              <a:rPr lang="en-US" sz="1600" dirty="0">
                <a:solidFill>
                  <a:schemeClr val="tx2"/>
                </a:solidFill>
              </a:rPr>
              <a:t>book, reschedule, confirm and cancel sessions; the API refuses double-bookings and out-of-hours slots</a:t>
            </a:r>
            <a:endParaRPr lang="en-US" sz="1600" dirty="0"/>
          </a:p>
          <a:p>
            <a:pPr marL="228600" indent="-228600">
              <a:spcAft>
                <a:spcPts val="800"/>
              </a:spcAft>
              <a:buSzPct val="100000"/>
              <a:buChar char="•"/>
            </a:pPr>
            <a:r>
              <a:rPr lang="en-US" sz="1600" b="1" dirty="0">
                <a:solidFill>
                  <a:schemeClr val="tx1"/>
                </a:solidFill>
              </a:rPr>
              <a:t>The platform: </a:t>
            </a:r>
            <a:pPr indent="0" marL="0">
              <a:buNone/>
            </a:pPr>
            <a:r>
              <a:rPr lang="en-US" sz="1600" dirty="0">
                <a:solidFill>
                  <a:schemeClr val="tx2"/>
                </a:solidFill>
              </a:rPr>
              <a:t>every push is tested, scanned, packaged, published and rolled out to EKS by GitOps, then monitored</a:t>
            </a:r>
            <a:endParaRPr lang="en-US" sz="1600" dirty="0"/>
          </a:p>
          <a:p>
            <a:pPr marL="228600" indent="-228600">
              <a:spcAft>
                <a:spcPts val="800"/>
              </a:spcAft>
              <a:buSzPct val="100000"/>
              <a:buChar char="•"/>
            </a:pPr>
            <a:r>
              <a:rPr lang="en-US" sz="1600" b="1" dirty="0">
                <a:solidFill>
                  <a:schemeClr val="tx1"/>
                </a:solidFill>
              </a:rPr>
              <a:t>Ground rules: </a:t>
            </a:r>
            <a:pPr indent="0" marL="0">
              <a:buNone/>
            </a:pPr>
            <a:r>
              <a:rPr lang="en-US" sz="1600" dirty="0">
                <a:solidFill>
                  <a:schemeClr val="tx2"/>
                </a:solidFill>
              </a:rPr>
              <a:t>nothing clicked in a console, no secrets in Git, every artefact traceable to a commit SHA</a:t>
            </a:r>
            <a:endParaRPr lang="en-US" sz="1600" dirty="0"/>
          </a:p>
        </p:txBody>
      </p:sp>
      <p:sp>
        <p:nvSpPr>
          <p:cNvPr id="4" name="Text 2"/>
          <p:cNvSpPr txBox="1"/>
          <p:nvPr/>
        </p:nvSpPr>
        <p:spPr>
          <a:xfrm>
            <a:off x="548640" y="4754880"/>
            <a:ext cx="1645920" cy="685800"/>
          </a:xfrm>
          <a:prstGeom prst="rect">
            <a:avLst/>
          </a:prstGeom>
          <a:noFill/>
          <a:ln/>
        </p:spPr>
        <p:txBody>
          <a:bodyPr wrap="square" lIns="0" tIns="0" rIns="0" bIns="0" rtlCol="0" anchor="ctr"/>
          <a:lstStyle/>
          <a:p>
            <a:pPr indent="0" marL="0">
              <a:buNone/>
            </a:pPr>
            <a:r>
              <a:rPr lang="en-US" sz="4000" b="1" dirty="0">
                <a:solidFill>
                  <a:schemeClr val="accent1"/>
                </a:solidFill>
              </a:rPr>
              <a:t>13</a:t>
            </a:r>
            <a:endParaRPr lang="en-US" sz="4000" dirty="0"/>
          </a:p>
        </p:txBody>
      </p:sp>
      <p:sp>
        <p:nvSpPr>
          <p:cNvPr id="5" name="Text 3"/>
          <p:cNvSpPr txBox="1"/>
          <p:nvPr/>
        </p:nvSpPr>
        <p:spPr>
          <a:xfrm>
            <a:off x="548640" y="5440680"/>
            <a:ext cx="1645920" cy="457200"/>
          </a:xfrm>
          <a:prstGeom prst="rect">
            <a:avLst/>
          </a:prstGeom>
          <a:noFill/>
          <a:ln/>
        </p:spPr>
        <p:txBody>
          <a:bodyPr wrap="square" lIns="0" tIns="0" rIns="0" bIns="0" rtlCol="0" anchor="ctr"/>
          <a:lstStyle/>
          <a:p>
            <a:pPr indent="0" marL="0">
              <a:buNone/>
            </a:pPr>
            <a:r>
              <a:rPr lang="en-US" sz="1300" dirty="0">
                <a:solidFill>
                  <a:schemeClr val="tx2"/>
                </a:solidFill>
              </a:rPr>
              <a:t>REST endpoints</a:t>
            </a:r>
            <a:endParaRPr lang="en-US" sz="1300" dirty="0"/>
          </a:p>
        </p:txBody>
      </p:sp>
      <p:sp>
        <p:nvSpPr>
          <p:cNvPr id="6" name="Text 4"/>
          <p:cNvSpPr txBox="1"/>
          <p:nvPr/>
        </p:nvSpPr>
        <p:spPr>
          <a:xfrm>
            <a:off x="2286000" y="4754880"/>
            <a:ext cx="1645920" cy="685800"/>
          </a:xfrm>
          <a:prstGeom prst="rect">
            <a:avLst/>
          </a:prstGeom>
          <a:noFill/>
          <a:ln/>
        </p:spPr>
        <p:txBody>
          <a:bodyPr wrap="square" lIns="0" tIns="0" rIns="0" bIns="0" rtlCol="0" anchor="ctr"/>
          <a:lstStyle/>
          <a:p>
            <a:pPr indent="0" marL="0">
              <a:buNone/>
            </a:pPr>
            <a:r>
              <a:rPr lang="en-US" sz="4000" b="1" dirty="0">
                <a:solidFill>
                  <a:schemeClr val="accent2"/>
                </a:solidFill>
              </a:rPr>
              <a:t>32</a:t>
            </a:r>
            <a:endParaRPr lang="en-US" sz="4000" dirty="0"/>
          </a:p>
        </p:txBody>
      </p:sp>
      <p:sp>
        <p:nvSpPr>
          <p:cNvPr id="7" name="Text 5"/>
          <p:cNvSpPr txBox="1"/>
          <p:nvPr/>
        </p:nvSpPr>
        <p:spPr>
          <a:xfrm>
            <a:off x="2286000" y="5440680"/>
            <a:ext cx="1645920" cy="457200"/>
          </a:xfrm>
          <a:prstGeom prst="rect">
            <a:avLst/>
          </a:prstGeom>
          <a:noFill/>
          <a:ln/>
        </p:spPr>
        <p:txBody>
          <a:bodyPr wrap="square" lIns="0" tIns="0" rIns="0" bIns="0" rtlCol="0" anchor="ctr"/>
          <a:lstStyle/>
          <a:p>
            <a:pPr indent="0" marL="0">
              <a:buNone/>
            </a:pPr>
            <a:r>
              <a:rPr lang="en-US" sz="1300" dirty="0">
                <a:solidFill>
                  <a:schemeClr val="tx2"/>
                </a:solidFill>
              </a:rPr>
              <a:t>automated tests</a:t>
            </a:r>
            <a:endParaRPr lang="en-US" sz="1300" dirty="0"/>
          </a:p>
        </p:txBody>
      </p:sp>
      <p:sp>
        <p:nvSpPr>
          <p:cNvPr id="8" name="Text 6"/>
          <p:cNvSpPr txBox="1"/>
          <p:nvPr/>
        </p:nvSpPr>
        <p:spPr>
          <a:xfrm>
            <a:off x="4023360" y="4754880"/>
            <a:ext cx="2011680" cy="685800"/>
          </a:xfrm>
          <a:prstGeom prst="rect">
            <a:avLst/>
          </a:prstGeom>
          <a:noFill/>
          <a:ln/>
        </p:spPr>
        <p:txBody>
          <a:bodyPr wrap="square" lIns="0" tIns="0" rIns="0" bIns="0" rtlCol="0" anchor="ctr"/>
          <a:lstStyle/>
          <a:p>
            <a:pPr indent="0" marL="0">
              <a:buNone/>
            </a:pPr>
            <a:r>
              <a:rPr lang="en-US" sz="4000" b="1" dirty="0">
                <a:solidFill>
                  <a:schemeClr val="accent3"/>
                </a:solidFill>
              </a:rPr>
              <a:t>61</a:t>
            </a:r>
            <a:endParaRPr lang="en-US" sz="4000" dirty="0"/>
          </a:p>
        </p:txBody>
      </p:sp>
      <p:sp>
        <p:nvSpPr>
          <p:cNvPr id="9" name="Text 7"/>
          <p:cNvSpPr txBox="1"/>
          <p:nvPr/>
        </p:nvSpPr>
        <p:spPr>
          <a:xfrm>
            <a:off x="4023360" y="5440680"/>
            <a:ext cx="2011680" cy="457200"/>
          </a:xfrm>
          <a:prstGeom prst="rect">
            <a:avLst/>
          </a:prstGeom>
          <a:noFill/>
          <a:ln/>
        </p:spPr>
        <p:txBody>
          <a:bodyPr wrap="square" lIns="0" tIns="0" rIns="0" bIns="0" rtlCol="0" anchor="ctr"/>
          <a:lstStyle/>
          <a:p>
            <a:pPr indent="0" marL="0">
              <a:buNone/>
            </a:pPr>
            <a:r>
              <a:rPr lang="en-US" sz="1300" dirty="0">
                <a:solidFill>
                  <a:schemeClr val="tx2"/>
                </a:solidFill>
              </a:rPr>
              <a:t>AWS resources in code</a:t>
            </a:r>
            <a:endParaRPr lang="en-US" sz="1300" dirty="0"/>
          </a:p>
        </p:txBody>
      </p:sp>
      <p:sp>
        <p:nvSpPr>
          <p:cNvPr id="10" name="Schedule view frame"/>
          <p:cNvSpPr/>
          <p:nvPr/>
        </p:nvSpPr>
        <p:spPr>
          <a:xfrm>
            <a:off x="6071616" y="1905381"/>
            <a:ext cx="5687568" cy="3595878"/>
          </a:xfrm>
          <a:prstGeom prst="roundRect">
            <a:avLst>
              <a:gd name="adj" fmla="val 2034"/>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11" name="Schedule view" descr="Schedule view">    </p:cNvPr>
          <p:cNvPicPr>
            <a:picLocks noChangeAspect="1"/>
          </p:cNvPicPr>
          <p:nvPr/>
        </p:nvPicPr>
        <p:blipFill>
          <a:blip r:embed="rId1"/>
          <a:stretch>
            <a:fillRect/>
          </a:stretch>
        </p:blipFill>
        <p:spPr>
          <a:xfrm>
            <a:off x="6126480" y="1960245"/>
            <a:ext cx="5577840" cy="348615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3" name="Application card"/>
          <p:cNvSpPr/>
          <p:nvPr/>
        </p:nvSpPr>
        <p:spPr>
          <a:xfrm>
            <a:off x="548640" y="1325880"/>
            <a:ext cx="5394960" cy="841248"/>
          </a:xfrm>
          <a:prstGeom prst="roundRect">
            <a:avLst>
              <a:gd name="adj" fmla="val 10870"/>
            </a:avLst>
          </a:prstGeom>
          <a:solidFill>
            <a:srgbClr val="F8FAFC"/>
          </a:solidFill>
          <a:ln w="12700">
            <a:solidFill>
              <a:srgbClr val="E2E8F0"/>
            </a:solidFill>
            <a:prstDash val="solid"/>
          </a:ln>
        </p:spPr>
      </p:sp>
      <p:sp>
        <p:nvSpPr>
          <p:cNvPr id="4" name="icon circle"/>
          <p:cNvSpPr/>
          <p:nvPr/>
        </p:nvSpPr>
        <p:spPr>
          <a:xfrm>
            <a:off x="731520" y="1490472"/>
            <a:ext cx="512064" cy="512064"/>
          </a:xfrm>
          <a:prstGeom prst="ellipse">
            <a:avLst/>
          </a:prstGeom>
          <a:solidFill>
            <a:srgbClr val="6366F1"/>
          </a:solidFill>
          <a:ln w="12700">
            <a:solidFill>
              <a:srgbClr val="6366F1"/>
            </a:solidFill>
            <a:prstDash val="solid"/>
          </a:ln>
        </p:spPr>
      </p:sp>
      <p:pic>
        <p:nvPicPr>
          <p:cNvPr id="5" name="icon" descr="preencoded.png">    </p:cNvPr>
          <p:cNvPicPr>
            <a:picLocks noChangeAspect="1"/>
          </p:cNvPicPr>
          <p:nvPr/>
        </p:nvPicPr>
        <p:blipFill>
          <a:blip r:embed="rId1"/>
          <a:stretch>
            <a:fillRect/>
          </a:stretch>
        </p:blipFill>
        <p:spPr>
          <a:xfrm>
            <a:off x="854415" y="1613367"/>
            <a:ext cx="266273" cy="266273"/>
          </a:xfrm>
          <a:prstGeom prst="rect">
            <a:avLst/>
          </a:prstGeom>
        </p:spPr>
      </p:pic>
      <p:sp>
        <p:nvSpPr>
          <p:cNvPr id="6" name="Text 3"/>
          <p:cNvSpPr txBox="1"/>
          <p:nvPr/>
        </p:nvSpPr>
        <p:spPr>
          <a:xfrm>
            <a:off x="1417320" y="1417320"/>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Application</a:t>
            </a:r>
            <a:endParaRPr lang="en-US" sz="1600" dirty="0"/>
          </a:p>
        </p:txBody>
      </p:sp>
      <p:sp>
        <p:nvSpPr>
          <p:cNvPr id="7" name="Text 4"/>
          <p:cNvSpPr txBox="1"/>
          <p:nvPr/>
        </p:nvSpPr>
        <p:spPr>
          <a:xfrm>
            <a:off x="1417320" y="1737360"/>
            <a:ext cx="4389120" cy="347472"/>
          </a:xfrm>
          <a:prstGeom prst="rect">
            <a:avLst/>
          </a:prstGeom>
          <a:noFill/>
          <a:ln/>
        </p:spPr>
        <p:txBody>
          <a:bodyPr wrap="square" lIns="0" tIns="0" rIns="0" bIns="0" rtlCol="0" anchor="ctr"/>
          <a:lstStyle/>
          <a:p>
            <a:pPr indent="0" marL="0">
              <a:buNone/>
            </a:pPr>
            <a:r>
              <a:rPr lang="en-US" sz="1300" dirty="0">
                <a:solidFill>
                  <a:schemeClr val="tx2"/>
                </a:solidFill>
              </a:rPr>
              <a:t>React 18 + Vite · FastAPI · SQLAlchemy 2 · Pydantic v2</a:t>
            </a:r>
            <a:endParaRPr lang="en-US" sz="1300" dirty="0"/>
          </a:p>
        </p:txBody>
      </p:sp>
      <p:sp>
        <p:nvSpPr>
          <p:cNvPr id="8" name="Data card"/>
          <p:cNvSpPr/>
          <p:nvPr/>
        </p:nvSpPr>
        <p:spPr>
          <a:xfrm>
            <a:off x="6263640" y="1325880"/>
            <a:ext cx="5394960" cy="841248"/>
          </a:xfrm>
          <a:prstGeom prst="roundRect">
            <a:avLst>
              <a:gd name="adj" fmla="val 10870"/>
            </a:avLst>
          </a:prstGeom>
          <a:solidFill>
            <a:srgbClr val="F8FAFC"/>
          </a:solidFill>
          <a:ln w="12700">
            <a:solidFill>
              <a:srgbClr val="E2E8F0"/>
            </a:solidFill>
            <a:prstDash val="solid"/>
          </a:ln>
        </p:spPr>
      </p:sp>
      <p:sp>
        <p:nvSpPr>
          <p:cNvPr id="9" name="icon circle"/>
          <p:cNvSpPr/>
          <p:nvPr/>
        </p:nvSpPr>
        <p:spPr>
          <a:xfrm>
            <a:off x="6446520" y="1490472"/>
            <a:ext cx="512064" cy="512064"/>
          </a:xfrm>
          <a:prstGeom prst="ellipse">
            <a:avLst/>
          </a:prstGeom>
          <a:solidFill>
            <a:srgbClr val="0EA5E9"/>
          </a:solidFill>
          <a:ln w="12700">
            <a:solidFill>
              <a:srgbClr val="0EA5E9"/>
            </a:solidFill>
            <a:prstDash val="solid"/>
          </a:ln>
        </p:spPr>
      </p:sp>
      <p:pic>
        <p:nvPicPr>
          <p:cNvPr id="10" name="icon" descr="preencoded.png">    </p:cNvPr>
          <p:cNvPicPr>
            <a:picLocks noChangeAspect="1"/>
          </p:cNvPicPr>
          <p:nvPr/>
        </p:nvPicPr>
        <p:blipFill>
          <a:blip r:embed="rId2"/>
          <a:stretch>
            <a:fillRect/>
          </a:stretch>
        </p:blipFill>
        <p:spPr>
          <a:xfrm>
            <a:off x="6569415" y="1613367"/>
            <a:ext cx="266273" cy="266273"/>
          </a:xfrm>
          <a:prstGeom prst="rect">
            <a:avLst/>
          </a:prstGeom>
        </p:spPr>
      </p:pic>
      <p:sp>
        <p:nvSpPr>
          <p:cNvPr id="11" name="Text 7"/>
          <p:cNvSpPr txBox="1"/>
          <p:nvPr/>
        </p:nvSpPr>
        <p:spPr>
          <a:xfrm>
            <a:off x="7132320" y="1417320"/>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Data</a:t>
            </a:r>
            <a:endParaRPr lang="en-US" sz="1600" dirty="0"/>
          </a:p>
        </p:txBody>
      </p:sp>
      <p:sp>
        <p:nvSpPr>
          <p:cNvPr id="12" name="Text 8"/>
          <p:cNvSpPr txBox="1"/>
          <p:nvPr/>
        </p:nvSpPr>
        <p:spPr>
          <a:xfrm>
            <a:off x="7132320" y="1737360"/>
            <a:ext cx="4389120" cy="347472"/>
          </a:xfrm>
          <a:prstGeom prst="rect">
            <a:avLst/>
          </a:prstGeom>
          <a:noFill/>
          <a:ln/>
        </p:spPr>
        <p:txBody>
          <a:bodyPr wrap="square" lIns="0" tIns="0" rIns="0" bIns="0" rtlCol="0" anchor="ctr"/>
          <a:lstStyle/>
          <a:p>
            <a:pPr indent="0" marL="0">
              <a:buNone/>
            </a:pPr>
            <a:r>
              <a:rPr lang="en-US" sz="1300" dirty="0">
                <a:solidFill>
                  <a:schemeClr val="tx2"/>
                </a:solidFill>
              </a:rPr>
              <a:t>PostgreSQL 16 · Alembic migrations · gp3 EBS volume</a:t>
            </a:r>
            <a:endParaRPr lang="en-US" sz="1300" dirty="0"/>
          </a:p>
        </p:txBody>
      </p:sp>
      <p:sp>
        <p:nvSpPr>
          <p:cNvPr id="13" name="Quality card"/>
          <p:cNvSpPr/>
          <p:nvPr/>
        </p:nvSpPr>
        <p:spPr>
          <a:xfrm>
            <a:off x="548640" y="2313432"/>
            <a:ext cx="5394960" cy="841248"/>
          </a:xfrm>
          <a:prstGeom prst="roundRect">
            <a:avLst>
              <a:gd name="adj" fmla="val 10870"/>
            </a:avLst>
          </a:prstGeom>
          <a:solidFill>
            <a:srgbClr val="F8FAFC"/>
          </a:solidFill>
          <a:ln w="12700">
            <a:solidFill>
              <a:srgbClr val="E2E8F0"/>
            </a:solidFill>
            <a:prstDash val="solid"/>
          </a:ln>
        </p:spPr>
      </p:sp>
      <p:sp>
        <p:nvSpPr>
          <p:cNvPr id="14" name="icon circle"/>
          <p:cNvSpPr/>
          <p:nvPr/>
        </p:nvSpPr>
        <p:spPr>
          <a:xfrm>
            <a:off x="731520" y="2478024"/>
            <a:ext cx="512064" cy="512064"/>
          </a:xfrm>
          <a:prstGeom prst="ellipse">
            <a:avLst/>
          </a:prstGeom>
          <a:solidFill>
            <a:srgbClr val="10B981"/>
          </a:solidFill>
          <a:ln w="12700">
            <a:solidFill>
              <a:srgbClr val="10B981"/>
            </a:solidFill>
            <a:prstDash val="solid"/>
          </a:ln>
        </p:spPr>
      </p:sp>
      <p:pic>
        <p:nvPicPr>
          <p:cNvPr id="15" name="icon" descr="preencoded.png">    </p:cNvPr>
          <p:cNvPicPr>
            <a:picLocks noChangeAspect="1"/>
          </p:cNvPicPr>
          <p:nvPr/>
        </p:nvPicPr>
        <p:blipFill>
          <a:blip r:embed="rId3"/>
          <a:stretch>
            <a:fillRect/>
          </a:stretch>
        </p:blipFill>
        <p:spPr>
          <a:xfrm>
            <a:off x="854415" y="2600919"/>
            <a:ext cx="266273" cy="266273"/>
          </a:xfrm>
          <a:prstGeom prst="rect">
            <a:avLst/>
          </a:prstGeom>
        </p:spPr>
      </p:pic>
      <p:sp>
        <p:nvSpPr>
          <p:cNvPr id="16" name="Text 11"/>
          <p:cNvSpPr txBox="1"/>
          <p:nvPr/>
        </p:nvSpPr>
        <p:spPr>
          <a:xfrm>
            <a:off x="1417320" y="2404872"/>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Quality</a:t>
            </a:r>
            <a:endParaRPr lang="en-US" sz="1600" dirty="0"/>
          </a:p>
        </p:txBody>
      </p:sp>
      <p:sp>
        <p:nvSpPr>
          <p:cNvPr id="17" name="Text 12"/>
          <p:cNvSpPr txBox="1"/>
          <p:nvPr/>
        </p:nvSpPr>
        <p:spPr>
          <a:xfrm>
            <a:off x="1417320" y="2724912"/>
            <a:ext cx="4389120" cy="347472"/>
          </a:xfrm>
          <a:prstGeom prst="rect">
            <a:avLst/>
          </a:prstGeom>
          <a:noFill/>
          <a:ln/>
        </p:spPr>
        <p:txBody>
          <a:bodyPr wrap="square" lIns="0" tIns="0" rIns="0" bIns="0" rtlCol="0" anchor="ctr"/>
          <a:lstStyle/>
          <a:p>
            <a:pPr indent="0" marL="0">
              <a:buNone/>
            </a:pPr>
            <a:r>
              <a:rPr lang="en-US" sz="1300" dirty="0">
                <a:solidFill>
                  <a:schemeClr val="tx2"/>
                </a:solidFill>
              </a:rPr>
              <a:t>pytest + coverage gate · Ruff · ESLint · alembic check</a:t>
            </a:r>
            <a:endParaRPr lang="en-US" sz="1300" dirty="0"/>
          </a:p>
        </p:txBody>
      </p:sp>
      <p:sp>
        <p:nvSpPr>
          <p:cNvPr id="18" name="Containers card"/>
          <p:cNvSpPr/>
          <p:nvPr/>
        </p:nvSpPr>
        <p:spPr>
          <a:xfrm>
            <a:off x="6263640" y="2313432"/>
            <a:ext cx="5394960" cy="841248"/>
          </a:xfrm>
          <a:prstGeom prst="roundRect">
            <a:avLst>
              <a:gd name="adj" fmla="val 10870"/>
            </a:avLst>
          </a:prstGeom>
          <a:solidFill>
            <a:srgbClr val="F8FAFC"/>
          </a:solidFill>
          <a:ln w="12700">
            <a:solidFill>
              <a:srgbClr val="E2E8F0"/>
            </a:solidFill>
            <a:prstDash val="solid"/>
          </a:ln>
        </p:spPr>
      </p:sp>
      <p:sp>
        <p:nvSpPr>
          <p:cNvPr id="19" name="icon circle"/>
          <p:cNvSpPr/>
          <p:nvPr/>
        </p:nvSpPr>
        <p:spPr>
          <a:xfrm>
            <a:off x="6446520" y="2478024"/>
            <a:ext cx="512064" cy="512064"/>
          </a:xfrm>
          <a:prstGeom prst="ellipse">
            <a:avLst/>
          </a:prstGeom>
          <a:solidFill>
            <a:srgbClr val="0EA5E9"/>
          </a:solidFill>
          <a:ln w="12700">
            <a:solidFill>
              <a:srgbClr val="0EA5E9"/>
            </a:solidFill>
            <a:prstDash val="solid"/>
          </a:ln>
        </p:spPr>
      </p:sp>
      <p:pic>
        <p:nvPicPr>
          <p:cNvPr id="20" name="icon" descr="preencoded.png">    </p:cNvPr>
          <p:cNvPicPr>
            <a:picLocks noChangeAspect="1"/>
          </p:cNvPicPr>
          <p:nvPr/>
        </p:nvPicPr>
        <p:blipFill>
          <a:blip r:embed="rId4"/>
          <a:stretch>
            <a:fillRect/>
          </a:stretch>
        </p:blipFill>
        <p:spPr>
          <a:xfrm>
            <a:off x="6569415" y="2600919"/>
            <a:ext cx="266273" cy="266273"/>
          </a:xfrm>
          <a:prstGeom prst="rect">
            <a:avLst/>
          </a:prstGeom>
        </p:spPr>
      </p:pic>
      <p:sp>
        <p:nvSpPr>
          <p:cNvPr id="21" name="Text 15"/>
          <p:cNvSpPr txBox="1"/>
          <p:nvPr/>
        </p:nvSpPr>
        <p:spPr>
          <a:xfrm>
            <a:off x="7132320" y="2404872"/>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Containers</a:t>
            </a:r>
            <a:endParaRPr lang="en-US" sz="1600" dirty="0"/>
          </a:p>
        </p:txBody>
      </p:sp>
      <p:sp>
        <p:nvSpPr>
          <p:cNvPr id="22" name="Text 16"/>
          <p:cNvSpPr txBox="1"/>
          <p:nvPr/>
        </p:nvSpPr>
        <p:spPr>
          <a:xfrm>
            <a:off x="7132320" y="2724912"/>
            <a:ext cx="4389120" cy="347472"/>
          </a:xfrm>
          <a:prstGeom prst="rect">
            <a:avLst/>
          </a:prstGeom>
          <a:noFill/>
          <a:ln/>
        </p:spPr>
        <p:txBody>
          <a:bodyPr wrap="square" lIns="0" tIns="0" rIns="0" bIns="0" rtlCol="0" anchor="ctr"/>
          <a:lstStyle/>
          <a:p>
            <a:pPr indent="0" marL="0">
              <a:buNone/>
            </a:pPr>
            <a:r>
              <a:rPr lang="en-US" sz="1300" dirty="0">
                <a:solidFill>
                  <a:schemeClr val="tx2"/>
                </a:solidFill>
              </a:rPr>
              <a:t>Multi-stage Dockerfiles · non-root · Docker Compose</a:t>
            </a:r>
            <a:endParaRPr lang="en-US" sz="1300" dirty="0"/>
          </a:p>
        </p:txBody>
      </p:sp>
      <p:sp>
        <p:nvSpPr>
          <p:cNvPr id="23" name="CI/CD card"/>
          <p:cNvSpPr/>
          <p:nvPr/>
        </p:nvSpPr>
        <p:spPr>
          <a:xfrm>
            <a:off x="548640" y="3300984"/>
            <a:ext cx="5394960" cy="841248"/>
          </a:xfrm>
          <a:prstGeom prst="roundRect">
            <a:avLst>
              <a:gd name="adj" fmla="val 10870"/>
            </a:avLst>
          </a:prstGeom>
          <a:solidFill>
            <a:srgbClr val="F8FAFC"/>
          </a:solidFill>
          <a:ln w="12700">
            <a:solidFill>
              <a:srgbClr val="E2E8F0"/>
            </a:solidFill>
            <a:prstDash val="solid"/>
          </a:ln>
        </p:spPr>
      </p:sp>
      <p:sp>
        <p:nvSpPr>
          <p:cNvPr id="24" name="icon circle"/>
          <p:cNvSpPr/>
          <p:nvPr/>
        </p:nvSpPr>
        <p:spPr>
          <a:xfrm>
            <a:off x="731520" y="3465576"/>
            <a:ext cx="512064" cy="512064"/>
          </a:xfrm>
          <a:prstGeom prst="ellipse">
            <a:avLst/>
          </a:prstGeom>
          <a:solidFill>
            <a:srgbClr val="0F172A"/>
          </a:solidFill>
          <a:ln w="12700">
            <a:solidFill>
              <a:srgbClr val="0F172A"/>
            </a:solidFill>
            <a:prstDash val="solid"/>
          </a:ln>
        </p:spPr>
      </p:sp>
      <p:pic>
        <p:nvPicPr>
          <p:cNvPr id="25" name="icon" descr="preencoded.png">    </p:cNvPr>
          <p:cNvPicPr>
            <a:picLocks noChangeAspect="1"/>
          </p:cNvPicPr>
          <p:nvPr/>
        </p:nvPicPr>
        <p:blipFill>
          <a:blip r:embed="rId5"/>
          <a:stretch>
            <a:fillRect/>
          </a:stretch>
        </p:blipFill>
        <p:spPr>
          <a:xfrm>
            <a:off x="854415" y="3588471"/>
            <a:ext cx="266273" cy="266273"/>
          </a:xfrm>
          <a:prstGeom prst="rect">
            <a:avLst/>
          </a:prstGeom>
        </p:spPr>
      </p:pic>
      <p:sp>
        <p:nvSpPr>
          <p:cNvPr id="26" name="Text 19"/>
          <p:cNvSpPr txBox="1"/>
          <p:nvPr/>
        </p:nvSpPr>
        <p:spPr>
          <a:xfrm>
            <a:off x="1417320" y="3392424"/>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CI/CD</a:t>
            </a:r>
            <a:endParaRPr lang="en-US" sz="1600" dirty="0"/>
          </a:p>
        </p:txBody>
      </p:sp>
      <p:sp>
        <p:nvSpPr>
          <p:cNvPr id="27" name="Text 20"/>
          <p:cNvSpPr txBox="1"/>
          <p:nvPr/>
        </p:nvSpPr>
        <p:spPr>
          <a:xfrm>
            <a:off x="1417320" y="3712464"/>
            <a:ext cx="4389120" cy="347472"/>
          </a:xfrm>
          <a:prstGeom prst="rect">
            <a:avLst/>
          </a:prstGeom>
          <a:noFill/>
          <a:ln/>
        </p:spPr>
        <p:txBody>
          <a:bodyPr wrap="square" lIns="0" tIns="0" rIns="0" bIns="0" rtlCol="0" anchor="ctr"/>
          <a:lstStyle/>
          <a:p>
            <a:pPr indent="0" marL="0">
              <a:buNone/>
            </a:pPr>
            <a:r>
              <a:rPr lang="en-US" sz="1300" dirty="0">
                <a:solidFill>
                  <a:schemeClr val="tx2"/>
                </a:solidFill>
              </a:rPr>
              <a:t>GitHub Actions · GHCR · multi-arch images · SHA tags</a:t>
            </a:r>
            <a:endParaRPr lang="en-US" sz="1300" dirty="0"/>
          </a:p>
        </p:txBody>
      </p:sp>
      <p:sp>
        <p:nvSpPr>
          <p:cNvPr id="28" name="DevSecOps card"/>
          <p:cNvSpPr/>
          <p:nvPr/>
        </p:nvSpPr>
        <p:spPr>
          <a:xfrm>
            <a:off x="6263640" y="3300984"/>
            <a:ext cx="5394960" cy="841248"/>
          </a:xfrm>
          <a:prstGeom prst="roundRect">
            <a:avLst>
              <a:gd name="adj" fmla="val 10870"/>
            </a:avLst>
          </a:prstGeom>
          <a:solidFill>
            <a:srgbClr val="F8FAFC"/>
          </a:solidFill>
          <a:ln w="12700">
            <a:solidFill>
              <a:srgbClr val="E2E8F0"/>
            </a:solidFill>
            <a:prstDash val="solid"/>
          </a:ln>
        </p:spPr>
      </p:sp>
      <p:sp>
        <p:nvSpPr>
          <p:cNvPr id="29" name="icon circle"/>
          <p:cNvSpPr/>
          <p:nvPr/>
        </p:nvSpPr>
        <p:spPr>
          <a:xfrm>
            <a:off x="6446520" y="3465576"/>
            <a:ext cx="512064" cy="512064"/>
          </a:xfrm>
          <a:prstGeom prst="ellipse">
            <a:avLst/>
          </a:prstGeom>
          <a:solidFill>
            <a:srgbClr val="EC4899"/>
          </a:solidFill>
          <a:ln w="12700">
            <a:solidFill>
              <a:srgbClr val="EC4899"/>
            </a:solidFill>
            <a:prstDash val="solid"/>
          </a:ln>
        </p:spPr>
      </p:sp>
      <p:pic>
        <p:nvPicPr>
          <p:cNvPr id="30" name="icon" descr="preencoded.png">    </p:cNvPr>
          <p:cNvPicPr>
            <a:picLocks noChangeAspect="1"/>
          </p:cNvPicPr>
          <p:nvPr/>
        </p:nvPicPr>
        <p:blipFill>
          <a:blip r:embed="rId6"/>
          <a:stretch>
            <a:fillRect/>
          </a:stretch>
        </p:blipFill>
        <p:spPr>
          <a:xfrm>
            <a:off x="6569415" y="3588471"/>
            <a:ext cx="266273" cy="266273"/>
          </a:xfrm>
          <a:prstGeom prst="rect">
            <a:avLst/>
          </a:prstGeom>
        </p:spPr>
      </p:pic>
      <p:sp>
        <p:nvSpPr>
          <p:cNvPr id="31" name="Text 23"/>
          <p:cNvSpPr txBox="1"/>
          <p:nvPr/>
        </p:nvSpPr>
        <p:spPr>
          <a:xfrm>
            <a:off x="7132320" y="3392424"/>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DevSecOps</a:t>
            </a:r>
            <a:endParaRPr lang="en-US" sz="1600" dirty="0"/>
          </a:p>
        </p:txBody>
      </p:sp>
      <p:sp>
        <p:nvSpPr>
          <p:cNvPr id="32" name="Text 24"/>
          <p:cNvSpPr txBox="1"/>
          <p:nvPr/>
        </p:nvSpPr>
        <p:spPr>
          <a:xfrm>
            <a:off x="7132320" y="3712464"/>
            <a:ext cx="4389120" cy="347472"/>
          </a:xfrm>
          <a:prstGeom prst="rect">
            <a:avLst/>
          </a:prstGeom>
          <a:noFill/>
          <a:ln/>
        </p:spPr>
        <p:txBody>
          <a:bodyPr wrap="square" lIns="0" tIns="0" rIns="0" bIns="0" rtlCol="0" anchor="ctr"/>
          <a:lstStyle/>
          <a:p>
            <a:pPr indent="0" marL="0">
              <a:buNone/>
            </a:pPr>
            <a:r>
              <a:rPr lang="en-US" sz="1300" dirty="0">
                <a:solidFill>
                  <a:schemeClr val="tx2"/>
                </a:solidFill>
              </a:rPr>
              <a:t>Trivy · Gitleaks · SBOM + provenance · Pod Security</a:t>
            </a:r>
            <a:endParaRPr lang="en-US" sz="1300" dirty="0"/>
          </a:p>
        </p:txBody>
      </p:sp>
      <p:sp>
        <p:nvSpPr>
          <p:cNvPr id="33" name="Infrastructure card"/>
          <p:cNvSpPr/>
          <p:nvPr/>
        </p:nvSpPr>
        <p:spPr>
          <a:xfrm>
            <a:off x="548640" y="4288536"/>
            <a:ext cx="5394960" cy="841248"/>
          </a:xfrm>
          <a:prstGeom prst="roundRect">
            <a:avLst>
              <a:gd name="adj" fmla="val 10870"/>
            </a:avLst>
          </a:prstGeom>
          <a:solidFill>
            <a:srgbClr val="F8FAFC"/>
          </a:solidFill>
          <a:ln w="12700">
            <a:solidFill>
              <a:srgbClr val="E2E8F0"/>
            </a:solidFill>
            <a:prstDash val="solid"/>
          </a:ln>
        </p:spPr>
      </p:sp>
      <p:sp>
        <p:nvSpPr>
          <p:cNvPr id="34" name="icon circle"/>
          <p:cNvSpPr/>
          <p:nvPr/>
        </p:nvSpPr>
        <p:spPr>
          <a:xfrm>
            <a:off x="731520" y="4453128"/>
            <a:ext cx="512064" cy="512064"/>
          </a:xfrm>
          <a:prstGeom prst="ellipse">
            <a:avLst/>
          </a:prstGeom>
          <a:solidFill>
            <a:srgbClr val="F59E0B"/>
          </a:solidFill>
          <a:ln w="12700">
            <a:solidFill>
              <a:srgbClr val="F59E0B"/>
            </a:solidFill>
            <a:prstDash val="solid"/>
          </a:ln>
        </p:spPr>
      </p:sp>
      <p:pic>
        <p:nvPicPr>
          <p:cNvPr id="35" name="icon" descr="preencoded.png">    </p:cNvPr>
          <p:cNvPicPr>
            <a:picLocks noChangeAspect="1"/>
          </p:cNvPicPr>
          <p:nvPr/>
        </p:nvPicPr>
        <p:blipFill>
          <a:blip r:embed="rId7"/>
          <a:stretch>
            <a:fillRect/>
          </a:stretch>
        </p:blipFill>
        <p:spPr>
          <a:xfrm>
            <a:off x="854415" y="4576023"/>
            <a:ext cx="266273" cy="266273"/>
          </a:xfrm>
          <a:prstGeom prst="rect">
            <a:avLst/>
          </a:prstGeom>
        </p:spPr>
      </p:pic>
      <p:sp>
        <p:nvSpPr>
          <p:cNvPr id="36" name="Text 27"/>
          <p:cNvSpPr txBox="1"/>
          <p:nvPr/>
        </p:nvSpPr>
        <p:spPr>
          <a:xfrm>
            <a:off x="1417320" y="4379976"/>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Infrastructure</a:t>
            </a:r>
            <a:endParaRPr lang="en-US" sz="1600" dirty="0"/>
          </a:p>
        </p:txBody>
      </p:sp>
      <p:sp>
        <p:nvSpPr>
          <p:cNvPr id="37" name="Text 28"/>
          <p:cNvSpPr txBox="1"/>
          <p:nvPr/>
        </p:nvSpPr>
        <p:spPr>
          <a:xfrm>
            <a:off x="1417320" y="4700016"/>
            <a:ext cx="4389120" cy="347472"/>
          </a:xfrm>
          <a:prstGeom prst="rect">
            <a:avLst/>
          </a:prstGeom>
          <a:noFill/>
          <a:ln/>
        </p:spPr>
        <p:txBody>
          <a:bodyPr wrap="square" lIns="0" tIns="0" rIns="0" bIns="0" rtlCol="0" anchor="ctr"/>
          <a:lstStyle/>
          <a:p>
            <a:pPr indent="0" marL="0">
              <a:buNone/>
            </a:pPr>
            <a:r>
              <a:rPr lang="en-US" sz="1300" dirty="0">
                <a:solidFill>
                  <a:schemeClr val="tx2"/>
                </a:solidFill>
              </a:rPr>
              <a:t>Terraform · AWS VPC · NAT · EKS 1.35 · Pod Identity</a:t>
            </a:r>
            <a:endParaRPr lang="en-US" sz="1300" dirty="0"/>
          </a:p>
        </p:txBody>
      </p:sp>
      <p:sp>
        <p:nvSpPr>
          <p:cNvPr id="38" name="Kubernetes card"/>
          <p:cNvSpPr/>
          <p:nvPr/>
        </p:nvSpPr>
        <p:spPr>
          <a:xfrm>
            <a:off x="6263640" y="4288536"/>
            <a:ext cx="5394960" cy="841248"/>
          </a:xfrm>
          <a:prstGeom prst="roundRect">
            <a:avLst>
              <a:gd name="adj" fmla="val 10870"/>
            </a:avLst>
          </a:prstGeom>
          <a:solidFill>
            <a:srgbClr val="F8FAFC"/>
          </a:solidFill>
          <a:ln w="12700">
            <a:solidFill>
              <a:srgbClr val="E2E8F0"/>
            </a:solidFill>
            <a:prstDash val="solid"/>
          </a:ln>
        </p:spPr>
      </p:sp>
      <p:sp>
        <p:nvSpPr>
          <p:cNvPr id="39" name="icon circle"/>
          <p:cNvSpPr/>
          <p:nvPr/>
        </p:nvSpPr>
        <p:spPr>
          <a:xfrm>
            <a:off x="6446520" y="4453128"/>
            <a:ext cx="512064" cy="512064"/>
          </a:xfrm>
          <a:prstGeom prst="ellipse">
            <a:avLst/>
          </a:prstGeom>
          <a:solidFill>
            <a:srgbClr val="6366F1"/>
          </a:solidFill>
          <a:ln w="12700">
            <a:solidFill>
              <a:srgbClr val="6366F1"/>
            </a:solidFill>
            <a:prstDash val="solid"/>
          </a:ln>
        </p:spPr>
      </p:sp>
      <p:pic>
        <p:nvPicPr>
          <p:cNvPr id="40" name="icon" descr="preencoded.png">    </p:cNvPr>
          <p:cNvPicPr>
            <a:picLocks noChangeAspect="1"/>
          </p:cNvPicPr>
          <p:nvPr/>
        </p:nvPicPr>
        <p:blipFill>
          <a:blip r:embed="rId8"/>
          <a:stretch>
            <a:fillRect/>
          </a:stretch>
        </p:blipFill>
        <p:spPr>
          <a:xfrm>
            <a:off x="6569415" y="4576023"/>
            <a:ext cx="266273" cy="266273"/>
          </a:xfrm>
          <a:prstGeom prst="rect">
            <a:avLst/>
          </a:prstGeom>
        </p:spPr>
      </p:pic>
      <p:sp>
        <p:nvSpPr>
          <p:cNvPr id="41" name="Text 31"/>
          <p:cNvSpPr txBox="1"/>
          <p:nvPr/>
        </p:nvSpPr>
        <p:spPr>
          <a:xfrm>
            <a:off x="7132320" y="4379976"/>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Kubernetes</a:t>
            </a:r>
            <a:endParaRPr lang="en-US" sz="1600" dirty="0"/>
          </a:p>
        </p:txBody>
      </p:sp>
      <p:sp>
        <p:nvSpPr>
          <p:cNvPr id="42" name="Text 32"/>
          <p:cNvSpPr txBox="1"/>
          <p:nvPr/>
        </p:nvSpPr>
        <p:spPr>
          <a:xfrm>
            <a:off x="7132320" y="4700016"/>
            <a:ext cx="4389120" cy="347472"/>
          </a:xfrm>
          <a:prstGeom prst="rect">
            <a:avLst/>
          </a:prstGeom>
          <a:noFill/>
          <a:ln/>
        </p:spPr>
        <p:txBody>
          <a:bodyPr wrap="square" lIns="0" tIns="0" rIns="0" bIns="0" rtlCol="0" anchor="ctr"/>
          <a:lstStyle/>
          <a:p>
            <a:pPr indent="0" marL="0">
              <a:buNone/>
            </a:pPr>
            <a:r>
              <a:rPr lang="en-US" sz="1300" dirty="0">
                <a:solidFill>
                  <a:schemeClr val="tx2"/>
                </a:solidFill>
              </a:rPr>
              <a:t>Helm chart · Ingress · HPA · PDB · NetworkPolicy</a:t>
            </a:r>
            <a:endParaRPr lang="en-US" sz="1300" dirty="0"/>
          </a:p>
        </p:txBody>
      </p:sp>
      <p:sp>
        <p:nvSpPr>
          <p:cNvPr id="43" name="GitOps card"/>
          <p:cNvSpPr/>
          <p:nvPr/>
        </p:nvSpPr>
        <p:spPr>
          <a:xfrm>
            <a:off x="548640" y="5276088"/>
            <a:ext cx="5394960" cy="841248"/>
          </a:xfrm>
          <a:prstGeom prst="roundRect">
            <a:avLst>
              <a:gd name="adj" fmla="val 10870"/>
            </a:avLst>
          </a:prstGeom>
          <a:solidFill>
            <a:srgbClr val="F8FAFC"/>
          </a:solidFill>
          <a:ln w="12700">
            <a:solidFill>
              <a:srgbClr val="E2E8F0"/>
            </a:solidFill>
            <a:prstDash val="solid"/>
          </a:ln>
        </p:spPr>
      </p:sp>
      <p:sp>
        <p:nvSpPr>
          <p:cNvPr id="44" name="icon circle"/>
          <p:cNvSpPr/>
          <p:nvPr/>
        </p:nvSpPr>
        <p:spPr>
          <a:xfrm>
            <a:off x="731520" y="5440680"/>
            <a:ext cx="512064" cy="512064"/>
          </a:xfrm>
          <a:prstGeom prst="ellipse">
            <a:avLst/>
          </a:prstGeom>
          <a:solidFill>
            <a:srgbClr val="EC4899"/>
          </a:solidFill>
          <a:ln w="12700">
            <a:solidFill>
              <a:srgbClr val="EC4899"/>
            </a:solidFill>
            <a:prstDash val="solid"/>
          </a:ln>
        </p:spPr>
      </p:sp>
      <p:pic>
        <p:nvPicPr>
          <p:cNvPr id="45" name="icon" descr="preencoded.png">    </p:cNvPr>
          <p:cNvPicPr>
            <a:picLocks noChangeAspect="1"/>
          </p:cNvPicPr>
          <p:nvPr/>
        </p:nvPicPr>
        <p:blipFill>
          <a:blip r:embed="rId9"/>
          <a:stretch>
            <a:fillRect/>
          </a:stretch>
        </p:blipFill>
        <p:spPr>
          <a:xfrm>
            <a:off x="854415" y="5563575"/>
            <a:ext cx="266273" cy="266273"/>
          </a:xfrm>
          <a:prstGeom prst="rect">
            <a:avLst/>
          </a:prstGeom>
        </p:spPr>
      </p:pic>
      <p:sp>
        <p:nvSpPr>
          <p:cNvPr id="46" name="Text 35"/>
          <p:cNvSpPr txBox="1"/>
          <p:nvPr/>
        </p:nvSpPr>
        <p:spPr>
          <a:xfrm>
            <a:off x="1417320" y="5367528"/>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GitOps</a:t>
            </a:r>
            <a:endParaRPr lang="en-US" sz="1600" dirty="0"/>
          </a:p>
        </p:txBody>
      </p:sp>
      <p:sp>
        <p:nvSpPr>
          <p:cNvPr id="47" name="Text 36"/>
          <p:cNvSpPr txBox="1"/>
          <p:nvPr/>
        </p:nvSpPr>
        <p:spPr>
          <a:xfrm>
            <a:off x="1417320" y="5687568"/>
            <a:ext cx="4389120" cy="347472"/>
          </a:xfrm>
          <a:prstGeom prst="rect">
            <a:avLst/>
          </a:prstGeom>
          <a:noFill/>
          <a:ln/>
        </p:spPr>
        <p:txBody>
          <a:bodyPr wrap="square" lIns="0" tIns="0" rIns="0" bIns="0" rtlCol="0" anchor="ctr"/>
          <a:lstStyle/>
          <a:p>
            <a:pPr indent="0" marL="0">
              <a:buNone/>
            </a:pPr>
            <a:r>
              <a:rPr lang="en-US" sz="1300" dirty="0">
                <a:solidFill>
                  <a:schemeClr val="tx2"/>
                </a:solidFill>
              </a:rPr>
              <a:t>Argo CD · automated sync, prune, self-heal</a:t>
            </a:r>
            <a:endParaRPr lang="en-US" sz="1300" dirty="0"/>
          </a:p>
        </p:txBody>
      </p:sp>
      <p:sp>
        <p:nvSpPr>
          <p:cNvPr id="48" name="Observability card"/>
          <p:cNvSpPr/>
          <p:nvPr/>
        </p:nvSpPr>
        <p:spPr>
          <a:xfrm>
            <a:off x="6263640" y="5276088"/>
            <a:ext cx="5394960" cy="841248"/>
          </a:xfrm>
          <a:prstGeom prst="roundRect">
            <a:avLst>
              <a:gd name="adj" fmla="val 10870"/>
            </a:avLst>
          </a:prstGeom>
          <a:solidFill>
            <a:srgbClr val="F8FAFC"/>
          </a:solidFill>
          <a:ln w="12700">
            <a:solidFill>
              <a:srgbClr val="E2E8F0"/>
            </a:solidFill>
            <a:prstDash val="solid"/>
          </a:ln>
        </p:spPr>
      </p:sp>
      <p:sp>
        <p:nvSpPr>
          <p:cNvPr id="49" name="icon circle"/>
          <p:cNvSpPr/>
          <p:nvPr/>
        </p:nvSpPr>
        <p:spPr>
          <a:xfrm>
            <a:off x="6446520" y="5440680"/>
            <a:ext cx="512064" cy="512064"/>
          </a:xfrm>
          <a:prstGeom prst="ellipse">
            <a:avLst/>
          </a:prstGeom>
          <a:solidFill>
            <a:srgbClr val="10B981"/>
          </a:solidFill>
          <a:ln w="12700">
            <a:solidFill>
              <a:srgbClr val="10B981"/>
            </a:solidFill>
            <a:prstDash val="solid"/>
          </a:ln>
        </p:spPr>
      </p:sp>
      <p:pic>
        <p:nvPicPr>
          <p:cNvPr id="50" name="icon" descr="preencoded.png">    </p:cNvPr>
          <p:cNvPicPr>
            <a:picLocks noChangeAspect="1"/>
          </p:cNvPicPr>
          <p:nvPr/>
        </p:nvPicPr>
        <p:blipFill>
          <a:blip r:embed="rId10"/>
          <a:stretch>
            <a:fillRect/>
          </a:stretch>
        </p:blipFill>
        <p:spPr>
          <a:xfrm>
            <a:off x="6569415" y="5563575"/>
            <a:ext cx="266273" cy="266273"/>
          </a:xfrm>
          <a:prstGeom prst="rect">
            <a:avLst/>
          </a:prstGeom>
        </p:spPr>
      </p:pic>
      <p:sp>
        <p:nvSpPr>
          <p:cNvPr id="51" name="Text 39"/>
          <p:cNvSpPr txBox="1"/>
          <p:nvPr/>
        </p:nvSpPr>
        <p:spPr>
          <a:xfrm>
            <a:off x="7132320" y="5367528"/>
            <a:ext cx="4389120" cy="320040"/>
          </a:xfrm>
          <a:prstGeom prst="rect">
            <a:avLst/>
          </a:prstGeom>
          <a:noFill/>
          <a:ln/>
        </p:spPr>
        <p:txBody>
          <a:bodyPr wrap="square" lIns="0" tIns="0" rIns="0" bIns="0" rtlCol="0" anchor="ctr"/>
          <a:lstStyle/>
          <a:p>
            <a:pPr indent="0" marL="0">
              <a:buNone/>
            </a:pPr>
            <a:r>
              <a:rPr lang="en-US" sz="1600" b="1" dirty="0">
                <a:solidFill>
                  <a:schemeClr val="tx1"/>
                </a:solidFill>
              </a:rPr>
              <a:t>Observability</a:t>
            </a:r>
            <a:endParaRPr lang="en-US" sz="1600" dirty="0"/>
          </a:p>
        </p:txBody>
      </p:sp>
      <p:sp>
        <p:nvSpPr>
          <p:cNvPr id="52" name="Text 40"/>
          <p:cNvSpPr txBox="1"/>
          <p:nvPr/>
        </p:nvSpPr>
        <p:spPr>
          <a:xfrm>
            <a:off x="7132320" y="5687568"/>
            <a:ext cx="4389120" cy="347472"/>
          </a:xfrm>
          <a:prstGeom prst="rect">
            <a:avLst/>
          </a:prstGeom>
          <a:noFill/>
          <a:ln/>
        </p:spPr>
        <p:txBody>
          <a:bodyPr wrap="square" lIns="0" tIns="0" rIns="0" bIns="0" rtlCol="0" anchor="ctr"/>
          <a:lstStyle/>
          <a:p>
            <a:pPr indent="0" marL="0">
              <a:buNone/>
            </a:pPr>
            <a:r>
              <a:rPr lang="en-US" sz="1300" dirty="0">
                <a:solidFill>
                  <a:schemeClr val="tx2"/>
                </a:solidFill>
              </a:rPr>
              <a:t>Prometheus · Grafana · ServiceMonitor · alert rules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Architecture</a:t>
            </a:r>
            <a:endParaRPr lang="en-US" sz="3400" dirty="0"/>
          </a:p>
        </p:txBody>
      </p:sp>
      <p:sp>
        <p:nvSpPr>
          <p:cNvPr id="3" name="Architecture diagram frame"/>
          <p:cNvSpPr/>
          <p:nvPr/>
        </p:nvSpPr>
        <p:spPr>
          <a:xfrm>
            <a:off x="1474216" y="1133856"/>
            <a:ext cx="9213088" cy="5230368"/>
          </a:xfrm>
          <a:prstGeom prst="roundRect">
            <a:avLst>
              <a:gd name="adj" fmla="val 1399"/>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4" name="Architecture diagram" descr="Architecture diagram">    </p:cNvPr>
          <p:cNvPicPr>
            <a:picLocks noChangeAspect="1"/>
          </p:cNvPicPr>
          <p:nvPr/>
        </p:nvPicPr>
        <p:blipFill>
          <a:blip r:embed="rId1"/>
          <a:stretch>
            <a:fillRect/>
          </a:stretch>
        </p:blipFill>
        <p:spPr>
          <a:xfrm>
            <a:off x="1529080" y="1188720"/>
            <a:ext cx="9103360"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Application and API</a:t>
            </a:r>
            <a:endParaRPr lang="en-US" sz="3400" dirty="0"/>
          </a:p>
        </p:txBody>
      </p:sp>
      <p:sp>
        <p:nvSpPr>
          <p:cNvPr id="3" name="Text 1"/>
          <p:cNvSpPr txBox="1"/>
          <p:nvPr/>
        </p:nvSpPr>
        <p:spPr>
          <a:xfrm>
            <a:off x="548640" y="1325880"/>
            <a:ext cx="5212080" cy="42062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FastAPI: </a:t>
            </a:r>
            <a:pPr indent="0" marL="0">
              <a:buNone/>
            </a:pPr>
            <a:r>
              <a:rPr lang="en-US" sz="1500" dirty="0">
                <a:solidFill>
                  <a:schemeClr val="tx2"/>
                </a:solidFill>
              </a:rPr>
              <a:t>CRUD on /api/appointments, status PATCH, stats, providers, services</a:t>
            </a:r>
            <a:endParaRPr lang="en-US" sz="1500" dirty="0"/>
          </a:p>
          <a:p>
            <a:pPr marL="228600" indent="-228600">
              <a:spcAft>
                <a:spcPts val="800"/>
              </a:spcAft>
              <a:buSzPct val="100000"/>
              <a:buChar char="•"/>
            </a:pPr>
            <a:r>
              <a:rPr lang="en-US" sz="1500" b="1" dirty="0">
                <a:solidFill>
                  <a:schemeClr val="tx1"/>
                </a:solidFill>
              </a:rPr>
              <a:t>Probes: </a:t>
            </a:r>
            <a:pPr indent="0" marL="0">
              <a:buNone/>
            </a:pPr>
            <a:r>
              <a:rPr lang="en-US" sz="1500" dirty="0">
                <a:solidFill>
                  <a:schemeClr val="tx2"/>
                </a:solidFill>
              </a:rPr>
              <a:t>/health for liveness, /ready runs SELECT 1, /metrics for Prometheus</a:t>
            </a:r>
            <a:endParaRPr lang="en-US" sz="1500" dirty="0"/>
          </a:p>
          <a:p>
            <a:pPr marL="228600" indent="-228600">
              <a:spcAft>
                <a:spcPts val="800"/>
              </a:spcAft>
              <a:buSzPct val="100000"/>
              <a:buChar char="•"/>
            </a:pPr>
            <a:r>
              <a:rPr lang="en-US" sz="1500" b="1" dirty="0">
                <a:solidFill>
                  <a:schemeClr val="tx1"/>
                </a:solidFill>
              </a:rPr>
              <a:t>Rules: </a:t>
            </a:r>
            <a:pPr indent="0" marL="0">
              <a:buNone/>
            </a:pPr>
            <a:r>
              <a:rPr lang="en-US" sz="1500" dirty="0">
                <a:solidFill>
                  <a:schemeClr val="tx2"/>
                </a:solidFill>
              </a:rPr>
              <a:t>409 on double-booking, 422 outside 07:00–21:00, UTC storage, IST display</a:t>
            </a:r>
            <a:endParaRPr lang="en-US" sz="1500" dirty="0"/>
          </a:p>
          <a:p>
            <a:pPr marL="228600" indent="-228600">
              <a:spcAft>
                <a:spcPts val="800"/>
              </a:spcAft>
              <a:buSzPct val="100000"/>
              <a:buChar char="•"/>
            </a:pPr>
            <a:r>
              <a:rPr lang="en-US" sz="1500" b="1" dirty="0">
                <a:solidFill>
                  <a:schemeClr val="tx1"/>
                </a:solidFill>
              </a:rPr>
              <a:t>Database: </a:t>
            </a:r>
            <a:pPr indent="0" marL="0">
              <a:buNone/>
            </a:pPr>
            <a:r>
              <a:rPr lang="en-US" sz="1500" dirty="0">
                <a:solidFill>
                  <a:schemeClr val="tx2"/>
                </a:solidFill>
              </a:rPr>
              <a:t>Alembic revision 0001 creates both tables and seeds practitioners; advisory lock stops replicas racing</a:t>
            </a:r>
            <a:endParaRPr lang="en-US" sz="1500" dirty="0"/>
          </a:p>
          <a:p>
            <a:pPr marL="228600" indent="-228600">
              <a:spcAft>
                <a:spcPts val="800"/>
              </a:spcAft>
              <a:buSzPct val="100000"/>
              <a:buChar char="•"/>
            </a:pPr>
            <a:r>
              <a:rPr lang="en-US" sz="1500" b="1" dirty="0">
                <a:solidFill>
                  <a:schemeClr val="tx1"/>
                </a:solidFill>
              </a:rPr>
              <a:t>Tests: </a:t>
            </a:r>
            <a:pPr indent="0" marL="0">
              <a:buNone/>
            </a:pPr>
            <a:r>
              <a:rPr lang="en-US" sz="1500" dirty="0">
                <a:solidFill>
                  <a:schemeClr val="tx2"/>
                </a:solidFill>
              </a:rPr>
              <a:t>32 pytest cases on an isolated in-memory DB, 97% coverage, warnings are errors</a:t>
            </a:r>
            <a:endParaRPr lang="en-US" sz="1500" dirty="0"/>
          </a:p>
        </p:txBody>
      </p:sp>
      <p:sp>
        <p:nvSpPr>
          <p:cNvPr id="4" name="Double booking rejected frame"/>
          <p:cNvSpPr/>
          <p:nvPr/>
        </p:nvSpPr>
        <p:spPr>
          <a:xfrm>
            <a:off x="6217920" y="1179576"/>
            <a:ext cx="5303520" cy="3355848"/>
          </a:xfrm>
          <a:prstGeom prst="roundRect">
            <a:avLst>
              <a:gd name="adj" fmla="val 2180"/>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5" name="Double booking rejected" descr="Double booking rejected">    </p:cNvPr>
          <p:cNvPicPr>
            <a:picLocks noChangeAspect="1"/>
          </p:cNvPicPr>
          <p:nvPr/>
        </p:nvPicPr>
        <p:blipFill>
          <a:blip r:embed="rId1"/>
          <a:stretch>
            <a:fillRect/>
          </a:stretch>
        </p:blipFill>
        <p:spPr>
          <a:xfrm>
            <a:off x="6272784" y="1234440"/>
            <a:ext cx="5193792" cy="3246120"/>
          </a:xfrm>
          <a:prstGeom prst="rect">
            <a:avLst/>
          </a:prstGeom>
        </p:spPr>
      </p:pic>
      <p:sp>
        <p:nvSpPr>
          <p:cNvPr id="6" name="pytest output frame"/>
          <p:cNvSpPr/>
          <p:nvPr/>
        </p:nvSpPr>
        <p:spPr>
          <a:xfrm>
            <a:off x="5980176" y="4720263"/>
            <a:ext cx="5779008" cy="1486553"/>
          </a:xfrm>
          <a:prstGeom prst="roundRect">
            <a:avLst>
              <a:gd name="adj" fmla="val 4921"/>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7" name="pytest output" descr="pytest output">    </p:cNvPr>
          <p:cNvPicPr>
            <a:picLocks noChangeAspect="1"/>
          </p:cNvPicPr>
          <p:nvPr/>
        </p:nvPicPr>
        <p:blipFill>
          <a:blip r:embed="rId2"/>
          <a:stretch>
            <a:fillRect/>
          </a:stretch>
        </p:blipFill>
        <p:spPr>
          <a:xfrm>
            <a:off x="6035040" y="4775127"/>
            <a:ext cx="5669280" cy="1376825"/>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Containers</a:t>
            </a:r>
            <a:endParaRPr lang="en-US" sz="3400" dirty="0"/>
          </a:p>
        </p:txBody>
      </p:sp>
      <p:sp>
        <p:nvSpPr>
          <p:cNvPr id="3" name="icon circle"/>
          <p:cNvSpPr/>
          <p:nvPr/>
        </p:nvSpPr>
        <p:spPr>
          <a:xfrm>
            <a:off x="548640" y="1325880"/>
            <a:ext cx="548640" cy="548640"/>
          </a:xfrm>
          <a:prstGeom prst="ellipse">
            <a:avLst/>
          </a:prstGeom>
          <a:solidFill>
            <a:srgbClr val="0EA5E9"/>
          </a:solidFill>
          <a:ln w="12700">
            <a:solidFill>
              <a:srgbClr val="0EA5E9"/>
            </a:solidFill>
            <a:prstDash val="solid"/>
          </a:ln>
        </p:spPr>
      </p:sp>
      <p:pic>
        <p:nvPicPr>
          <p:cNvPr id="4" name="icon" descr="preencoded.png">    </p:cNvPr>
          <p:cNvPicPr>
            <a:picLocks noChangeAspect="1"/>
          </p:cNvPicPr>
          <p:nvPr/>
        </p:nvPicPr>
        <p:blipFill>
          <a:blip r:embed="rId1"/>
          <a:stretch>
            <a:fillRect/>
          </a:stretch>
        </p:blipFill>
        <p:spPr>
          <a:xfrm>
            <a:off x="680314" y="1457554"/>
            <a:ext cx="285293" cy="285293"/>
          </a:xfrm>
          <a:prstGeom prst="rect">
            <a:avLst/>
          </a:prstGeom>
        </p:spPr>
      </p:pic>
      <p:sp>
        <p:nvSpPr>
          <p:cNvPr id="5" name="Text 2"/>
          <p:cNvSpPr txBox="1"/>
          <p:nvPr/>
        </p:nvSpPr>
        <p:spPr>
          <a:xfrm>
            <a:off x="1234440" y="137160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Backend image</a:t>
            </a:r>
            <a:endParaRPr lang="en-US" sz="1800" dirty="0"/>
          </a:p>
        </p:txBody>
      </p:sp>
      <p:sp>
        <p:nvSpPr>
          <p:cNvPr id="6" name="Text 3"/>
          <p:cNvSpPr txBox="1"/>
          <p:nvPr/>
        </p:nvSpPr>
        <p:spPr>
          <a:xfrm>
            <a:off x="548640" y="2011680"/>
            <a:ext cx="3474720" cy="1463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2"/>
                </a:solidFill>
              </a:rPr>
              <a:t>python:3.12-slim, multi-stage venv</a:t>
            </a:r>
            <a:endParaRPr lang="en-US" sz="1400" dirty="0"/>
          </a:p>
          <a:p>
            <a:pPr marL="228600" indent="-228600">
              <a:spcAft>
                <a:spcPts val="800"/>
              </a:spcAft>
              <a:buSzPct val="100000"/>
              <a:buChar char="•"/>
            </a:pPr>
            <a:r>
              <a:rPr lang="en-US" sz="1400" dirty="0">
                <a:solidFill>
                  <a:schemeClr val="tx2"/>
                </a:solidFill>
              </a:rPr>
              <a:t>pip and setuptools removed at runtime</a:t>
            </a:r>
            <a:endParaRPr lang="en-US" sz="1400" dirty="0"/>
          </a:p>
          <a:p>
            <a:pPr marL="228600" indent="-228600">
              <a:spcAft>
                <a:spcPts val="800"/>
              </a:spcAft>
              <a:buSzPct val="100000"/>
              <a:buChar char="•"/>
            </a:pPr>
            <a:r>
              <a:rPr lang="en-US" sz="1400" dirty="0">
                <a:solidFill>
                  <a:schemeClr val="tx2"/>
                </a:solidFill>
              </a:rPr>
              <a:t>UID 10001, waits for DB, migrates, runs Uvicorn</a:t>
            </a:r>
            <a:endParaRPr lang="en-US" sz="1400" dirty="0"/>
          </a:p>
        </p:txBody>
      </p:sp>
      <p:sp>
        <p:nvSpPr>
          <p:cNvPr id="7" name="icon circle"/>
          <p:cNvSpPr/>
          <p:nvPr/>
        </p:nvSpPr>
        <p:spPr>
          <a:xfrm>
            <a:off x="4297680" y="1325880"/>
            <a:ext cx="548640" cy="548640"/>
          </a:xfrm>
          <a:prstGeom prst="ellipse">
            <a:avLst/>
          </a:prstGeom>
          <a:solidFill>
            <a:srgbClr val="6366F1"/>
          </a:solidFill>
          <a:ln w="12700">
            <a:solidFill>
              <a:srgbClr val="6366F1"/>
            </a:solidFill>
            <a:prstDash val="solid"/>
          </a:ln>
        </p:spPr>
      </p:sp>
      <p:pic>
        <p:nvPicPr>
          <p:cNvPr id="8" name="icon" descr="preencoded.png">    </p:cNvPr>
          <p:cNvPicPr>
            <a:picLocks noChangeAspect="1"/>
          </p:cNvPicPr>
          <p:nvPr/>
        </p:nvPicPr>
        <p:blipFill>
          <a:blip r:embed="rId2"/>
          <a:stretch>
            <a:fillRect/>
          </a:stretch>
        </p:blipFill>
        <p:spPr>
          <a:xfrm>
            <a:off x="4429354" y="1457554"/>
            <a:ext cx="285293" cy="285293"/>
          </a:xfrm>
          <a:prstGeom prst="rect">
            <a:avLst/>
          </a:prstGeom>
        </p:spPr>
      </p:pic>
      <p:sp>
        <p:nvSpPr>
          <p:cNvPr id="9" name="Text 5"/>
          <p:cNvSpPr txBox="1"/>
          <p:nvPr/>
        </p:nvSpPr>
        <p:spPr>
          <a:xfrm>
            <a:off x="4983480" y="137160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Frontend image</a:t>
            </a:r>
            <a:endParaRPr lang="en-US" sz="1800" dirty="0"/>
          </a:p>
        </p:txBody>
      </p:sp>
      <p:sp>
        <p:nvSpPr>
          <p:cNvPr id="10" name="Text 6"/>
          <p:cNvSpPr txBox="1"/>
          <p:nvPr/>
        </p:nvSpPr>
        <p:spPr>
          <a:xfrm>
            <a:off x="4297680" y="2011680"/>
            <a:ext cx="3474720" cy="1463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2"/>
                </a:solidFill>
              </a:rPr>
              <a:t>Stage 1: node:20 builds the Vite bundle</a:t>
            </a:r>
            <a:endParaRPr lang="en-US" sz="1400" dirty="0"/>
          </a:p>
          <a:p>
            <a:pPr marL="228600" indent="-228600">
              <a:spcAft>
                <a:spcPts val="800"/>
              </a:spcAft>
              <a:buSzPct val="100000"/>
              <a:buChar char="•"/>
            </a:pPr>
            <a:r>
              <a:rPr lang="en-US" sz="1400" dirty="0">
                <a:solidFill>
                  <a:schemeClr val="tx2"/>
                </a:solidFill>
              </a:rPr>
              <a:t>Stage 2: nginx-unprivileged on :8080, UID 101</a:t>
            </a:r>
            <a:endParaRPr lang="en-US" sz="1400" dirty="0"/>
          </a:p>
          <a:p>
            <a:pPr marL="228600" indent="-228600">
              <a:spcAft>
                <a:spcPts val="800"/>
              </a:spcAft>
              <a:buSzPct val="100000"/>
              <a:buChar char="•"/>
            </a:pPr>
            <a:r>
              <a:rPr lang="en-US" sz="1400" dirty="0">
                <a:solidFill>
                  <a:schemeClr val="tx2"/>
                </a:solidFill>
              </a:rPr>
              <a:t>Proxies /api, SPA fallback, security headers</a:t>
            </a:r>
            <a:endParaRPr lang="en-US" sz="1400" dirty="0"/>
          </a:p>
        </p:txBody>
      </p:sp>
      <p:sp>
        <p:nvSpPr>
          <p:cNvPr id="11" name="icon circle"/>
          <p:cNvSpPr/>
          <p:nvPr/>
        </p:nvSpPr>
        <p:spPr>
          <a:xfrm>
            <a:off x="8046720" y="1325880"/>
            <a:ext cx="548640" cy="548640"/>
          </a:xfrm>
          <a:prstGeom prst="ellipse">
            <a:avLst/>
          </a:prstGeom>
          <a:solidFill>
            <a:srgbClr val="10B981"/>
          </a:solidFill>
          <a:ln w="12700">
            <a:solidFill>
              <a:srgbClr val="10B981"/>
            </a:solidFill>
            <a:prstDash val="solid"/>
          </a:ln>
        </p:spPr>
      </p:sp>
      <p:pic>
        <p:nvPicPr>
          <p:cNvPr id="12" name="icon" descr="preencoded.png">    </p:cNvPr>
          <p:cNvPicPr>
            <a:picLocks noChangeAspect="1"/>
          </p:cNvPicPr>
          <p:nvPr/>
        </p:nvPicPr>
        <p:blipFill>
          <a:blip r:embed="rId3"/>
          <a:stretch>
            <a:fillRect/>
          </a:stretch>
        </p:blipFill>
        <p:spPr>
          <a:xfrm>
            <a:off x="8178394" y="1457554"/>
            <a:ext cx="285293" cy="285293"/>
          </a:xfrm>
          <a:prstGeom prst="rect">
            <a:avLst/>
          </a:prstGeom>
        </p:spPr>
      </p:pic>
      <p:sp>
        <p:nvSpPr>
          <p:cNvPr id="13" name="Text 8"/>
          <p:cNvSpPr txBox="1"/>
          <p:nvPr/>
        </p:nvSpPr>
        <p:spPr>
          <a:xfrm>
            <a:off x="8732520" y="1371600"/>
            <a:ext cx="2926080" cy="457200"/>
          </a:xfrm>
          <a:prstGeom prst="rect">
            <a:avLst/>
          </a:prstGeom>
          <a:noFill/>
          <a:ln/>
        </p:spPr>
        <p:txBody>
          <a:bodyPr wrap="square" lIns="0" tIns="0" rIns="0" bIns="0" rtlCol="0" anchor="ctr"/>
          <a:lstStyle/>
          <a:p>
            <a:pPr indent="0" marL="0">
              <a:buNone/>
            </a:pPr>
            <a:r>
              <a:rPr lang="en-US" sz="1800" b="1" dirty="0">
                <a:solidFill>
                  <a:schemeClr val="tx1"/>
                </a:solidFill>
              </a:rPr>
              <a:t>Compose stack</a:t>
            </a:r>
            <a:endParaRPr lang="en-US" sz="1800" dirty="0"/>
          </a:p>
        </p:txBody>
      </p:sp>
      <p:sp>
        <p:nvSpPr>
          <p:cNvPr id="14" name="Text 9"/>
          <p:cNvSpPr txBox="1"/>
          <p:nvPr/>
        </p:nvSpPr>
        <p:spPr>
          <a:xfrm>
            <a:off x="8046720" y="2011680"/>
            <a:ext cx="3474720" cy="1463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2"/>
                </a:solidFill>
              </a:rPr>
              <a:t>postgres → backend → frontend</a:t>
            </a:r>
            <a:endParaRPr lang="en-US" sz="1400" dirty="0"/>
          </a:p>
          <a:p>
            <a:pPr marL="228600" indent="-228600">
              <a:spcAft>
                <a:spcPts val="800"/>
              </a:spcAft>
              <a:buSzPct val="100000"/>
              <a:buChar char="•"/>
            </a:pPr>
            <a:r>
              <a:rPr lang="en-US" sz="1400" dirty="0">
                <a:solidFill>
                  <a:schemeClr val="tx2"/>
                </a:solidFill>
              </a:rPr>
              <a:t>each waits for the previous healthcheck</a:t>
            </a:r>
            <a:endParaRPr lang="en-US" sz="1400" dirty="0"/>
          </a:p>
          <a:p>
            <a:pPr marL="228600" indent="-228600">
              <a:spcAft>
                <a:spcPts val="800"/>
              </a:spcAft>
              <a:buSzPct val="100000"/>
              <a:buChar char="•"/>
            </a:pPr>
            <a:r>
              <a:rPr lang="en-US" sz="1400" dirty="0">
                <a:solidFill>
                  <a:schemeClr val="tx2"/>
                </a:solidFill>
              </a:rPr>
              <a:t>one command: docker compose up --build</a:t>
            </a:r>
            <a:endParaRPr lang="en-US" sz="1400" dirty="0"/>
          </a:p>
        </p:txBody>
      </p:sp>
      <p:sp>
        <p:nvSpPr>
          <p:cNvPr id="15" name="docker compose up frame"/>
          <p:cNvSpPr/>
          <p:nvPr/>
        </p:nvSpPr>
        <p:spPr>
          <a:xfrm>
            <a:off x="737486" y="3557016"/>
            <a:ext cx="10686549" cy="2761488"/>
          </a:xfrm>
          <a:prstGeom prst="roundRect">
            <a:avLst>
              <a:gd name="adj" fmla="val 2649"/>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16" name="docker compose up" descr="docker compose up">    </p:cNvPr>
          <p:cNvPicPr>
            <a:picLocks noChangeAspect="1"/>
          </p:cNvPicPr>
          <p:nvPr/>
        </p:nvPicPr>
        <p:blipFill>
          <a:blip r:embed="rId4"/>
          <a:stretch>
            <a:fillRect/>
          </a:stretch>
        </p:blipFill>
        <p:spPr>
          <a:xfrm>
            <a:off x="792350" y="3611880"/>
            <a:ext cx="10576821" cy="26517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CI/CD pipeline</a:t>
            </a:r>
            <a:endParaRPr lang="en-US" sz="3400" dirty="0"/>
          </a:p>
        </p:txBody>
      </p:sp>
      <p:sp>
        <p:nvSpPr>
          <p:cNvPr id="3" name="Test step"/>
          <p:cNvSpPr/>
          <p:nvPr/>
        </p:nvSpPr>
        <p:spPr>
          <a:xfrm>
            <a:off x="548640" y="1280160"/>
            <a:ext cx="2057400" cy="1325880"/>
          </a:xfrm>
          <a:prstGeom prst="roundRect">
            <a:avLst>
              <a:gd name="adj" fmla="val 8276"/>
            </a:avLst>
          </a:prstGeom>
          <a:solidFill>
            <a:srgbClr val="10B981"/>
          </a:solidFill>
          <a:ln w="12700">
            <a:solidFill>
              <a:srgbClr val="10B981"/>
            </a:solidFill>
            <a:prstDash val="solid"/>
          </a:ln>
        </p:spPr>
      </p:sp>
      <p:sp>
        <p:nvSpPr>
          <p:cNvPr id="4" name="Text 2"/>
          <p:cNvSpPr txBox="1"/>
          <p:nvPr/>
        </p:nvSpPr>
        <p:spPr>
          <a:xfrm>
            <a:off x="685800" y="1371600"/>
            <a:ext cx="1783080" cy="411480"/>
          </a:xfrm>
          <a:prstGeom prst="rect">
            <a:avLst/>
          </a:prstGeom>
          <a:noFill/>
          <a:ln/>
        </p:spPr>
        <p:txBody>
          <a:bodyPr wrap="square" lIns="0" tIns="0" rIns="0" bIns="0" rtlCol="0" anchor="ctr"/>
          <a:lstStyle/>
          <a:p>
            <a:pPr indent="0" marL="0">
              <a:buNone/>
            </a:pPr>
            <a:r>
              <a:rPr lang="en-US" sz="1800" b="1" dirty="0">
                <a:solidFill>
                  <a:schemeClr val="bg1"/>
                </a:solidFill>
              </a:rPr>
              <a:t>1  Test</a:t>
            </a:r>
            <a:endParaRPr lang="en-US" sz="1800" dirty="0"/>
          </a:p>
        </p:txBody>
      </p:sp>
      <p:sp>
        <p:nvSpPr>
          <p:cNvPr id="5" name="Text 3"/>
          <p:cNvSpPr txBox="1"/>
          <p:nvPr/>
        </p:nvSpPr>
        <p:spPr>
          <a:xfrm>
            <a:off x="685800" y="1783080"/>
            <a:ext cx="1783080" cy="777240"/>
          </a:xfrm>
          <a:prstGeom prst="rect">
            <a:avLst/>
          </a:prstGeom>
          <a:noFill/>
          <a:ln/>
        </p:spPr>
        <p:txBody>
          <a:bodyPr wrap="square" lIns="0" tIns="0" rIns="0" bIns="0" rtlCol="0" anchor="ctr"/>
          <a:lstStyle/>
          <a:p>
            <a:pPr indent="0" marL="0">
              <a:buNone/>
            </a:pPr>
            <a:r>
              <a:rPr lang="en-US" sz="1200" dirty="0">
                <a:solidFill>
                  <a:schemeClr val="bg1"/>
                </a:solidFill>
              </a:rPr>
              <a:t>Gitleaks · pytest · Alembic · ESLint · helm lint · tf validate</a:t>
            </a:r>
            <a:endParaRPr lang="en-US" sz="1200" dirty="0"/>
          </a:p>
        </p:txBody>
      </p:sp>
      <p:sp>
        <p:nvSpPr>
          <p:cNvPr id="6" name="Build step"/>
          <p:cNvSpPr/>
          <p:nvPr/>
        </p:nvSpPr>
        <p:spPr>
          <a:xfrm>
            <a:off x="2788920" y="1280160"/>
            <a:ext cx="2057400" cy="1325880"/>
          </a:xfrm>
          <a:prstGeom prst="roundRect">
            <a:avLst>
              <a:gd name="adj" fmla="val 8276"/>
            </a:avLst>
          </a:prstGeom>
          <a:solidFill>
            <a:srgbClr val="0EA5E9"/>
          </a:solidFill>
          <a:ln w="12700">
            <a:solidFill>
              <a:srgbClr val="0EA5E9"/>
            </a:solidFill>
            <a:prstDash val="solid"/>
          </a:ln>
        </p:spPr>
      </p:sp>
      <p:sp>
        <p:nvSpPr>
          <p:cNvPr id="7" name="Text 5"/>
          <p:cNvSpPr txBox="1"/>
          <p:nvPr/>
        </p:nvSpPr>
        <p:spPr>
          <a:xfrm>
            <a:off x="2926080" y="1371600"/>
            <a:ext cx="1783080" cy="411480"/>
          </a:xfrm>
          <a:prstGeom prst="rect">
            <a:avLst/>
          </a:prstGeom>
          <a:noFill/>
          <a:ln/>
        </p:spPr>
        <p:txBody>
          <a:bodyPr wrap="square" lIns="0" tIns="0" rIns="0" bIns="0" rtlCol="0" anchor="ctr"/>
          <a:lstStyle/>
          <a:p>
            <a:pPr indent="0" marL="0">
              <a:buNone/>
            </a:pPr>
            <a:r>
              <a:rPr lang="en-US" sz="1800" b="1" dirty="0">
                <a:solidFill>
                  <a:schemeClr val="bg1"/>
                </a:solidFill>
              </a:rPr>
              <a:t>2  Build</a:t>
            </a:r>
            <a:endParaRPr lang="en-US" sz="1800" dirty="0"/>
          </a:p>
        </p:txBody>
      </p:sp>
      <p:sp>
        <p:nvSpPr>
          <p:cNvPr id="8" name="Text 6"/>
          <p:cNvSpPr txBox="1"/>
          <p:nvPr/>
        </p:nvSpPr>
        <p:spPr>
          <a:xfrm>
            <a:off x="2926080" y="1783080"/>
            <a:ext cx="1783080" cy="777240"/>
          </a:xfrm>
          <a:prstGeom prst="rect">
            <a:avLst/>
          </a:prstGeom>
          <a:noFill/>
          <a:ln/>
        </p:spPr>
        <p:txBody>
          <a:bodyPr wrap="square" lIns="0" tIns="0" rIns="0" bIns="0" rtlCol="0" anchor="ctr"/>
          <a:lstStyle/>
          <a:p>
            <a:pPr indent="0" marL="0">
              <a:buNone/>
            </a:pPr>
            <a:r>
              <a:rPr lang="en-US" sz="1200" dirty="0">
                <a:solidFill>
                  <a:schemeClr val="bg1"/>
                </a:solidFill>
              </a:rPr>
              <a:t>Docker build, cached, both images</a:t>
            </a:r>
            <a:endParaRPr lang="en-US" sz="1200" dirty="0"/>
          </a:p>
        </p:txBody>
      </p:sp>
      <p:sp>
        <p:nvSpPr>
          <p:cNvPr id="9" name="Scan step"/>
          <p:cNvSpPr/>
          <p:nvPr/>
        </p:nvSpPr>
        <p:spPr>
          <a:xfrm>
            <a:off x="5029200" y="1280160"/>
            <a:ext cx="2057400" cy="1325880"/>
          </a:xfrm>
          <a:prstGeom prst="roundRect">
            <a:avLst>
              <a:gd name="adj" fmla="val 8276"/>
            </a:avLst>
          </a:prstGeom>
          <a:solidFill>
            <a:srgbClr val="EC4899"/>
          </a:solidFill>
          <a:ln w="12700">
            <a:solidFill>
              <a:srgbClr val="EC4899"/>
            </a:solidFill>
            <a:prstDash val="solid"/>
          </a:ln>
        </p:spPr>
      </p:sp>
      <p:sp>
        <p:nvSpPr>
          <p:cNvPr id="10" name="Text 8"/>
          <p:cNvSpPr txBox="1"/>
          <p:nvPr/>
        </p:nvSpPr>
        <p:spPr>
          <a:xfrm>
            <a:off x="5166360" y="1371600"/>
            <a:ext cx="1783080" cy="411480"/>
          </a:xfrm>
          <a:prstGeom prst="rect">
            <a:avLst/>
          </a:prstGeom>
          <a:noFill/>
          <a:ln/>
        </p:spPr>
        <p:txBody>
          <a:bodyPr wrap="square" lIns="0" tIns="0" rIns="0" bIns="0" rtlCol="0" anchor="ctr"/>
          <a:lstStyle/>
          <a:p>
            <a:pPr indent="0" marL="0">
              <a:buNone/>
            </a:pPr>
            <a:r>
              <a:rPr lang="en-US" sz="1800" b="1" dirty="0">
                <a:solidFill>
                  <a:schemeClr val="bg1"/>
                </a:solidFill>
              </a:rPr>
              <a:t>3  Scan</a:t>
            </a:r>
            <a:endParaRPr lang="en-US" sz="1800" dirty="0"/>
          </a:p>
        </p:txBody>
      </p:sp>
      <p:sp>
        <p:nvSpPr>
          <p:cNvPr id="11" name="Text 9"/>
          <p:cNvSpPr txBox="1"/>
          <p:nvPr/>
        </p:nvSpPr>
        <p:spPr>
          <a:xfrm>
            <a:off x="5166360" y="1783080"/>
            <a:ext cx="1783080" cy="777240"/>
          </a:xfrm>
          <a:prstGeom prst="rect">
            <a:avLst/>
          </a:prstGeom>
          <a:noFill/>
          <a:ln/>
        </p:spPr>
        <p:txBody>
          <a:bodyPr wrap="square" lIns="0" tIns="0" rIns="0" bIns="0" rtlCol="0" anchor="ctr"/>
          <a:lstStyle/>
          <a:p>
            <a:pPr indent="0" marL="0">
              <a:buNone/>
            </a:pPr>
            <a:r>
              <a:rPr lang="en-US" sz="1200" dirty="0">
                <a:solidFill>
                  <a:schemeClr val="bg1"/>
                </a:solidFill>
              </a:rPr>
              <a:t>Trivy gate on HIGH/CRITICAL</a:t>
            </a:r>
            <a:endParaRPr lang="en-US" sz="1200" dirty="0"/>
          </a:p>
        </p:txBody>
      </p:sp>
      <p:sp>
        <p:nvSpPr>
          <p:cNvPr id="12" name="Push step"/>
          <p:cNvSpPr/>
          <p:nvPr/>
        </p:nvSpPr>
        <p:spPr>
          <a:xfrm>
            <a:off x="7269480" y="1280160"/>
            <a:ext cx="2057400" cy="1325880"/>
          </a:xfrm>
          <a:prstGeom prst="roundRect">
            <a:avLst>
              <a:gd name="adj" fmla="val 8276"/>
            </a:avLst>
          </a:prstGeom>
          <a:solidFill>
            <a:srgbClr val="6366F1"/>
          </a:solidFill>
          <a:ln w="12700">
            <a:solidFill>
              <a:srgbClr val="6366F1"/>
            </a:solidFill>
            <a:prstDash val="solid"/>
          </a:ln>
        </p:spPr>
      </p:sp>
      <p:sp>
        <p:nvSpPr>
          <p:cNvPr id="13" name="Text 11"/>
          <p:cNvSpPr txBox="1"/>
          <p:nvPr/>
        </p:nvSpPr>
        <p:spPr>
          <a:xfrm>
            <a:off x="7406640" y="1371600"/>
            <a:ext cx="1783080" cy="411480"/>
          </a:xfrm>
          <a:prstGeom prst="rect">
            <a:avLst/>
          </a:prstGeom>
          <a:noFill/>
          <a:ln/>
        </p:spPr>
        <p:txBody>
          <a:bodyPr wrap="square" lIns="0" tIns="0" rIns="0" bIns="0" rtlCol="0" anchor="ctr"/>
          <a:lstStyle/>
          <a:p>
            <a:pPr indent="0" marL="0">
              <a:buNone/>
            </a:pPr>
            <a:r>
              <a:rPr lang="en-US" sz="1800" b="1" dirty="0">
                <a:solidFill>
                  <a:schemeClr val="bg1"/>
                </a:solidFill>
              </a:rPr>
              <a:t>4  Push</a:t>
            </a:r>
            <a:endParaRPr lang="en-US" sz="1800" dirty="0"/>
          </a:p>
        </p:txBody>
      </p:sp>
      <p:sp>
        <p:nvSpPr>
          <p:cNvPr id="14" name="Text 12"/>
          <p:cNvSpPr txBox="1"/>
          <p:nvPr/>
        </p:nvSpPr>
        <p:spPr>
          <a:xfrm>
            <a:off x="7406640" y="1783080"/>
            <a:ext cx="1783080" cy="777240"/>
          </a:xfrm>
          <a:prstGeom prst="rect">
            <a:avLst/>
          </a:prstGeom>
          <a:noFill/>
          <a:ln/>
        </p:spPr>
        <p:txBody>
          <a:bodyPr wrap="square" lIns="0" tIns="0" rIns="0" bIns="0" rtlCol="0" anchor="ctr"/>
          <a:lstStyle/>
          <a:p>
            <a:pPr indent="0" marL="0">
              <a:buNone/>
            </a:pPr>
            <a:r>
              <a:rPr lang="en-US" sz="1200" dirty="0">
                <a:solidFill>
                  <a:schemeClr val="bg1"/>
                </a:solidFill>
              </a:rPr>
              <a:t>GHCR :&lt;git-sha&gt;, amd64 + arm64</a:t>
            </a:r>
            <a:endParaRPr lang="en-US" sz="1200" dirty="0"/>
          </a:p>
        </p:txBody>
      </p:sp>
      <p:sp>
        <p:nvSpPr>
          <p:cNvPr id="15" name="Deploy step"/>
          <p:cNvSpPr/>
          <p:nvPr/>
        </p:nvSpPr>
        <p:spPr>
          <a:xfrm>
            <a:off x="9509760" y="1280160"/>
            <a:ext cx="2057400" cy="1325880"/>
          </a:xfrm>
          <a:prstGeom prst="roundRect">
            <a:avLst>
              <a:gd name="adj" fmla="val 8276"/>
            </a:avLst>
          </a:prstGeom>
          <a:solidFill>
            <a:srgbClr val="F59E0B"/>
          </a:solidFill>
          <a:ln w="12700">
            <a:solidFill>
              <a:srgbClr val="F59E0B"/>
            </a:solidFill>
            <a:prstDash val="solid"/>
          </a:ln>
        </p:spPr>
      </p:sp>
      <p:sp>
        <p:nvSpPr>
          <p:cNvPr id="16" name="Text 14"/>
          <p:cNvSpPr txBox="1"/>
          <p:nvPr/>
        </p:nvSpPr>
        <p:spPr>
          <a:xfrm>
            <a:off x="9646920" y="1371600"/>
            <a:ext cx="1783080" cy="411480"/>
          </a:xfrm>
          <a:prstGeom prst="rect">
            <a:avLst/>
          </a:prstGeom>
          <a:noFill/>
          <a:ln/>
        </p:spPr>
        <p:txBody>
          <a:bodyPr wrap="square" lIns="0" tIns="0" rIns="0" bIns="0" rtlCol="0" anchor="ctr"/>
          <a:lstStyle/>
          <a:p>
            <a:pPr indent="0" marL="0">
              <a:buNone/>
            </a:pPr>
            <a:r>
              <a:rPr lang="en-US" sz="1800" b="1" dirty="0">
                <a:solidFill>
                  <a:schemeClr val="bg1"/>
                </a:solidFill>
              </a:rPr>
              <a:t>5  Deploy</a:t>
            </a:r>
            <a:endParaRPr lang="en-US" sz="1800" dirty="0"/>
          </a:p>
        </p:txBody>
      </p:sp>
      <p:sp>
        <p:nvSpPr>
          <p:cNvPr id="17" name="Text 15"/>
          <p:cNvSpPr txBox="1"/>
          <p:nvPr/>
        </p:nvSpPr>
        <p:spPr>
          <a:xfrm>
            <a:off x="9646920" y="1783080"/>
            <a:ext cx="1783080" cy="777240"/>
          </a:xfrm>
          <a:prstGeom prst="rect">
            <a:avLst/>
          </a:prstGeom>
          <a:noFill/>
          <a:ln/>
        </p:spPr>
        <p:txBody>
          <a:bodyPr wrap="square" lIns="0" tIns="0" rIns="0" bIns="0" rtlCol="0" anchor="ctr"/>
          <a:lstStyle/>
          <a:p>
            <a:pPr indent="0" marL="0">
              <a:buNone/>
            </a:pPr>
            <a:r>
              <a:rPr lang="en-US" sz="1200" dirty="0">
                <a:solidFill>
                  <a:schemeClr val="bg1"/>
                </a:solidFill>
              </a:rPr>
              <a:t>kind smoke test, then GitOps promote</a:t>
            </a:r>
            <a:endParaRPr lang="en-US" sz="1200" dirty="0"/>
          </a:p>
        </p:txBody>
      </p:sp>
      <p:sp>
        <p:nvSpPr>
          <p:cNvPr id="18" name="GitHub Actions run frame"/>
          <p:cNvSpPr/>
          <p:nvPr/>
        </p:nvSpPr>
        <p:spPr>
          <a:xfrm>
            <a:off x="1042416" y="2779776"/>
            <a:ext cx="5047488" cy="3538728"/>
          </a:xfrm>
          <a:prstGeom prst="roundRect">
            <a:avLst>
              <a:gd name="adj" fmla="val 2067"/>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19" name="GitHub Actions run" descr="GitHub Actions run">    </p:cNvPr>
          <p:cNvPicPr>
            <a:picLocks noChangeAspect="1"/>
          </p:cNvPicPr>
          <p:nvPr/>
        </p:nvPicPr>
        <p:blipFill>
          <a:blip r:embed="rId1"/>
          <a:stretch>
            <a:fillRect/>
          </a:stretch>
        </p:blipFill>
        <p:spPr>
          <a:xfrm>
            <a:off x="1097280" y="2834640"/>
            <a:ext cx="4937760" cy="3429000"/>
          </a:xfrm>
          <a:prstGeom prst="rect">
            <a:avLst/>
          </a:prstGeom>
        </p:spPr>
      </p:pic>
      <p:sp>
        <p:nvSpPr>
          <p:cNvPr id="20" name="GHCR package with SHA tags frame"/>
          <p:cNvSpPr/>
          <p:nvPr/>
        </p:nvSpPr>
        <p:spPr>
          <a:xfrm>
            <a:off x="6711696" y="2811526"/>
            <a:ext cx="4956048" cy="3475228"/>
          </a:xfrm>
          <a:prstGeom prst="roundRect">
            <a:avLst>
              <a:gd name="adj" fmla="val 2105"/>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21" name="GHCR package with SHA tags" descr="GHCR package with SHA tags">    </p:cNvPr>
          <p:cNvPicPr>
            <a:picLocks noChangeAspect="1"/>
          </p:cNvPicPr>
          <p:nvPr/>
        </p:nvPicPr>
        <p:blipFill>
          <a:blip r:embed="rId2"/>
          <a:stretch>
            <a:fillRect/>
          </a:stretch>
        </p:blipFill>
        <p:spPr>
          <a:xfrm>
            <a:off x="6766560" y="2866390"/>
            <a:ext cx="4846320" cy="336550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DevSecOps: the gate caught real CVEs</a:t>
            </a:r>
            <a:endParaRPr lang="en-US" sz="3400" dirty="0"/>
          </a:p>
        </p:txBody>
      </p:sp>
      <p:sp>
        <p:nvSpPr>
          <p:cNvPr id="3" name="Text 1"/>
          <p:cNvSpPr txBox="1"/>
          <p:nvPr/>
        </p:nvSpPr>
        <p:spPr>
          <a:xfrm>
            <a:off x="548640" y="1280160"/>
            <a:ext cx="2743200" cy="685800"/>
          </a:xfrm>
          <a:prstGeom prst="rect">
            <a:avLst/>
          </a:prstGeom>
          <a:noFill/>
          <a:ln/>
        </p:spPr>
        <p:txBody>
          <a:bodyPr wrap="square" lIns="0" tIns="0" rIns="0" bIns="0" rtlCol="0" anchor="ctr"/>
          <a:lstStyle/>
          <a:p>
            <a:pPr indent="0" marL="0">
              <a:buNone/>
            </a:pPr>
            <a:r>
              <a:rPr lang="en-US" sz="4000" b="1" dirty="0">
                <a:solidFill>
                  <a:schemeClr val="accent4"/>
                </a:solidFill>
              </a:rPr>
              <a:t>7 HIGH</a:t>
            </a:r>
            <a:endParaRPr lang="en-US" sz="4000" dirty="0"/>
          </a:p>
        </p:txBody>
      </p:sp>
      <p:sp>
        <p:nvSpPr>
          <p:cNvPr id="4" name="Text 2"/>
          <p:cNvSpPr txBox="1"/>
          <p:nvPr/>
        </p:nvSpPr>
        <p:spPr>
          <a:xfrm>
            <a:off x="548640" y="1965960"/>
            <a:ext cx="2743200" cy="457200"/>
          </a:xfrm>
          <a:prstGeom prst="rect">
            <a:avLst/>
          </a:prstGeom>
          <a:noFill/>
          <a:ln/>
        </p:spPr>
        <p:txBody>
          <a:bodyPr wrap="square" lIns="0" tIns="0" rIns="0" bIns="0" rtlCol="0" anchor="ctr"/>
          <a:lstStyle/>
          <a:p>
            <a:pPr indent="0" marL="0">
              <a:buNone/>
            </a:pPr>
            <a:r>
              <a:rPr lang="en-US" sz="1300" dirty="0">
                <a:solidFill>
                  <a:schemeClr val="tx2"/>
                </a:solidFill>
              </a:rPr>
              <a:t>first backend scan: Starlette, urllib3, msgpack, setuptools</a:t>
            </a:r>
            <a:endParaRPr lang="en-US" sz="1300" dirty="0"/>
          </a:p>
        </p:txBody>
      </p:sp>
      <p:sp>
        <p:nvSpPr>
          <p:cNvPr id="5" name="Text 3"/>
          <p:cNvSpPr txBox="1"/>
          <p:nvPr/>
        </p:nvSpPr>
        <p:spPr>
          <a:xfrm>
            <a:off x="3566160" y="1280160"/>
            <a:ext cx="2743200" cy="685800"/>
          </a:xfrm>
          <a:prstGeom prst="rect">
            <a:avLst/>
          </a:prstGeom>
          <a:noFill/>
          <a:ln/>
        </p:spPr>
        <p:txBody>
          <a:bodyPr wrap="square" lIns="0" tIns="0" rIns="0" bIns="0" rtlCol="0" anchor="ctr"/>
          <a:lstStyle/>
          <a:p>
            <a:pPr indent="0" marL="0">
              <a:buNone/>
            </a:pPr>
            <a:r>
              <a:rPr lang="en-US" sz="4000" b="1" dirty="0">
                <a:solidFill>
                  <a:schemeClr val="accent2"/>
                </a:solidFill>
              </a:rPr>
              <a:t>0</a:t>
            </a:r>
            <a:endParaRPr lang="en-US" sz="4000" dirty="0"/>
          </a:p>
        </p:txBody>
      </p:sp>
      <p:sp>
        <p:nvSpPr>
          <p:cNvPr id="6" name="Text 4"/>
          <p:cNvSpPr txBox="1"/>
          <p:nvPr/>
        </p:nvSpPr>
        <p:spPr>
          <a:xfrm>
            <a:off x="3566160" y="1965960"/>
            <a:ext cx="2743200" cy="457200"/>
          </a:xfrm>
          <a:prstGeom prst="rect">
            <a:avLst/>
          </a:prstGeom>
          <a:noFill/>
          <a:ln/>
        </p:spPr>
        <p:txBody>
          <a:bodyPr wrap="square" lIns="0" tIns="0" rIns="0" bIns="0" rtlCol="0" anchor="ctr"/>
          <a:lstStyle/>
          <a:p>
            <a:pPr indent="0" marL="0">
              <a:buNone/>
            </a:pPr>
            <a:r>
              <a:rPr lang="en-US" sz="1300" dirty="0">
                <a:solidFill>
                  <a:schemeClr val="tx2"/>
                </a:solidFill>
              </a:rPr>
              <a:t>after upgrading FastAPI/Starlette and removing pip from the image</a:t>
            </a:r>
            <a:endParaRPr lang="en-US" sz="1300" dirty="0"/>
          </a:p>
        </p:txBody>
      </p:sp>
      <p:sp>
        <p:nvSpPr>
          <p:cNvPr id="7" name="Text 5"/>
          <p:cNvSpPr txBox="1"/>
          <p:nvPr/>
        </p:nvSpPr>
        <p:spPr>
          <a:xfrm>
            <a:off x="548640" y="2606040"/>
            <a:ext cx="5760720" cy="36576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1"/>
                </a:solidFill>
              </a:rPr>
              <a:t>CVE-2025-62727: </a:t>
            </a:r>
            <a:pPr indent="0" marL="0">
              <a:buNone/>
            </a:pPr>
            <a:r>
              <a:rPr lang="en-US" sz="1400" dirty="0">
                <a:solidFill>
                  <a:schemeClr val="tx2"/>
                </a:solidFill>
              </a:rPr>
              <a:t>a crafted Range header made Starlette merge ranges in quadratic time - one request could pin a CPU (DoS)</a:t>
            </a:r>
            <a:endParaRPr lang="en-US" sz="1400" dirty="0"/>
          </a:p>
          <a:p>
            <a:pPr marL="228600" indent="-228600">
              <a:spcAft>
                <a:spcPts val="800"/>
              </a:spcAft>
              <a:buSzPct val="100000"/>
              <a:buChar char="•"/>
            </a:pPr>
            <a:r>
              <a:rPr lang="en-US" sz="1400" b="1" dirty="0">
                <a:solidFill>
                  <a:schemeClr val="tx1"/>
                </a:solidFill>
              </a:rPr>
              <a:t>Gate: </a:t>
            </a:r>
            <a:pPr indent="0" marL="0">
              <a:buNone/>
            </a:pPr>
            <a:r>
              <a:rPr lang="en-US" sz="1400" dirty="0">
                <a:solidFill>
                  <a:schemeClr val="tx2"/>
                </a:solidFill>
              </a:rPr>
              <a:t>Trivy fails the build on fixable HIGH/CRITICAL; SARIF goes to the GitHub Security tab</a:t>
            </a:r>
            <a:endParaRPr lang="en-US" sz="1400" dirty="0"/>
          </a:p>
          <a:p>
            <a:pPr marL="228600" indent="-228600">
              <a:spcAft>
                <a:spcPts val="800"/>
              </a:spcAft>
              <a:buSzPct val="100000"/>
              <a:buChar char="•"/>
            </a:pPr>
            <a:r>
              <a:rPr lang="en-US" sz="1400" b="1" dirty="0">
                <a:solidFill>
                  <a:schemeClr val="tx1"/>
                </a:solidFill>
              </a:rPr>
              <a:t>Gitleaks: </a:t>
            </a:r>
            <a:pPr indent="0" marL="0">
              <a:buNone/>
            </a:pPr>
            <a:r>
              <a:rPr lang="en-US" sz="1400" dirty="0">
                <a:solidFill>
                  <a:schemeClr val="tx2"/>
                </a:solidFill>
              </a:rPr>
              <a:t>scans all Git history for credentials on every run</a:t>
            </a:r>
            <a:endParaRPr lang="en-US" sz="1400" dirty="0"/>
          </a:p>
          <a:p>
            <a:pPr marL="228600" indent="-228600">
              <a:spcAft>
                <a:spcPts val="800"/>
              </a:spcAft>
              <a:buSzPct val="100000"/>
              <a:buChar char="•"/>
            </a:pPr>
            <a:r>
              <a:rPr lang="en-US" sz="1400" b="1" dirty="0">
                <a:solidFill>
                  <a:schemeClr val="tx1"/>
                </a:solidFill>
              </a:rPr>
              <a:t>Runtime: </a:t>
            </a:r>
            <a:pPr indent="0" marL="0">
              <a:buNone/>
            </a:pPr>
            <a:r>
              <a:rPr lang="en-US" sz="1400" dirty="0">
                <a:solidFill>
                  <a:schemeClr val="tx2"/>
                </a:solidFill>
              </a:rPr>
              <a:t>non-root, read-only root FS, capabilities dropped, Pod Security restricted, NetworkPolicy on Postgres</a:t>
            </a:r>
            <a:endParaRPr lang="en-US" sz="1400" dirty="0"/>
          </a:p>
        </p:txBody>
      </p:sp>
      <p:sp>
        <p:nvSpPr>
          <p:cNvPr id="8" name="Trivy before fix frame"/>
          <p:cNvSpPr/>
          <p:nvPr/>
        </p:nvSpPr>
        <p:spPr>
          <a:xfrm>
            <a:off x="6681364" y="1179576"/>
            <a:ext cx="4925273" cy="2761488"/>
          </a:xfrm>
          <a:prstGeom prst="roundRect">
            <a:avLst>
              <a:gd name="adj" fmla="val 2649"/>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9" name="Trivy before fix" descr="Trivy before fix">    </p:cNvPr>
          <p:cNvPicPr>
            <a:picLocks noChangeAspect="1"/>
          </p:cNvPicPr>
          <p:nvPr/>
        </p:nvPicPr>
        <p:blipFill>
          <a:blip r:embed="rId1"/>
          <a:stretch>
            <a:fillRect/>
          </a:stretch>
        </p:blipFill>
        <p:spPr>
          <a:xfrm>
            <a:off x="6736228" y="1234440"/>
            <a:ext cx="4815545" cy="2651760"/>
          </a:xfrm>
          <a:prstGeom prst="rect">
            <a:avLst/>
          </a:prstGeom>
        </p:spPr>
      </p:pic>
      <p:sp>
        <p:nvSpPr>
          <p:cNvPr id="10" name="Trivy clean in CI frame"/>
          <p:cNvSpPr/>
          <p:nvPr/>
        </p:nvSpPr>
        <p:spPr>
          <a:xfrm>
            <a:off x="6962288" y="3968496"/>
            <a:ext cx="4363424" cy="2350008"/>
          </a:xfrm>
          <a:prstGeom prst="roundRect">
            <a:avLst>
              <a:gd name="adj" fmla="val 3113"/>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11" name="Trivy clean in CI" descr="Trivy clean in CI">    </p:cNvPr>
          <p:cNvPicPr>
            <a:picLocks noChangeAspect="1"/>
          </p:cNvPicPr>
          <p:nvPr/>
        </p:nvPicPr>
        <p:blipFill>
          <a:blip r:embed="rId2"/>
          <a:stretch>
            <a:fillRect/>
          </a:stretch>
        </p:blipFill>
        <p:spPr>
          <a:xfrm>
            <a:off x="7017152" y="4023360"/>
            <a:ext cx="4253696" cy="224028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Infrastructure as code: AWS VPC + EKS</a:t>
            </a:r>
            <a:endParaRPr lang="en-US" sz="3400" dirty="0"/>
          </a:p>
        </p:txBody>
      </p:sp>
      <p:sp>
        <p:nvSpPr>
          <p:cNvPr id="3" name="Text 1"/>
          <p:cNvSpPr txBox="1"/>
          <p:nvPr/>
        </p:nvSpPr>
        <p:spPr>
          <a:xfrm>
            <a:off x="548640" y="1325880"/>
            <a:ext cx="4937760" cy="384048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VPC 10.20.0.0/16: </a:t>
            </a:r>
            <a:pPr indent="0" marL="0">
              <a:buNone/>
            </a:pPr>
            <a:r>
              <a:rPr lang="en-US" sz="1500" dirty="0">
                <a:solidFill>
                  <a:schemeClr val="tx2"/>
                </a:solidFill>
              </a:rPr>
              <a:t>2 public subnets (NLB, NAT) and 2 private subnets (nodes) across 2 AZs</a:t>
            </a:r>
            <a:endParaRPr lang="en-US" sz="1500" dirty="0"/>
          </a:p>
          <a:p>
            <a:pPr marL="228600" indent="-228600">
              <a:spcAft>
                <a:spcPts val="800"/>
              </a:spcAft>
              <a:buSzPct val="100000"/>
              <a:buChar char="•"/>
            </a:pPr>
            <a:r>
              <a:rPr lang="en-US" sz="1500" b="1" dirty="0">
                <a:solidFill>
                  <a:schemeClr val="tx1"/>
                </a:solidFill>
              </a:rPr>
              <a:t>EKS 1.35: </a:t>
            </a:r>
            <a:pPr indent="0" marL="0">
              <a:buNone/>
            </a:pPr>
            <a:r>
              <a:rPr lang="en-US" sz="1500" dirty="0">
                <a:solidFill>
                  <a:schemeClr val="tx2"/>
                </a:solidFill>
              </a:rPr>
              <a:t>managed node group of 2× m7i-flex.large, API restricted to my IP, secrets encrypted with KMS</a:t>
            </a:r>
            <a:endParaRPr lang="en-US" sz="1500" dirty="0"/>
          </a:p>
          <a:p>
            <a:pPr marL="228600" indent="-228600">
              <a:spcAft>
                <a:spcPts val="800"/>
              </a:spcAft>
              <a:buSzPct val="100000"/>
              <a:buChar char="•"/>
            </a:pPr>
            <a:r>
              <a:rPr lang="en-US" sz="1500" b="1" dirty="0">
                <a:solidFill>
                  <a:schemeClr val="tx1"/>
                </a:solidFill>
              </a:rPr>
              <a:t>Add-ons: </a:t>
            </a:r>
            <a:pPr indent="0" marL="0">
              <a:buNone/>
            </a:pPr>
            <a:r>
              <a:rPr lang="en-US" sz="1500" dirty="0">
                <a:solidFill>
                  <a:schemeClr val="tx2"/>
                </a:solidFill>
              </a:rPr>
              <a:t>VPC CNI with NetworkPolicy, CoreDNS, kube-proxy, EBS CSI via Pod Identity, metrics-server</a:t>
            </a:r>
            <a:endParaRPr lang="en-US" sz="1500" dirty="0"/>
          </a:p>
          <a:p>
            <a:pPr marL="228600" indent="-228600">
              <a:spcAft>
                <a:spcPts val="800"/>
              </a:spcAft>
              <a:buSzPct val="100000"/>
              <a:buChar char="•"/>
            </a:pPr>
            <a:r>
              <a:rPr lang="en-US" sz="1500" b="1" dirty="0">
                <a:solidFill>
                  <a:schemeClr val="tx1"/>
                </a:solidFill>
              </a:rPr>
              <a:t>Workflow: </a:t>
            </a:r>
            <a:pPr indent="0" marL="0">
              <a:buNone/>
            </a:pPr>
            <a:r>
              <a:rPr lang="en-US" sz="1500" dirty="0">
                <a:solidFill>
                  <a:schemeClr val="tx2"/>
                </a:solidFill>
              </a:rPr>
              <a:t>terraform plan → apply (61 resources) → destroy; state and tfvars git-ignored</a:t>
            </a:r>
            <a:endParaRPr lang="en-US" sz="1500" dirty="0"/>
          </a:p>
        </p:txBody>
      </p:sp>
      <p:sp>
        <p:nvSpPr>
          <p:cNvPr id="4" name="Text 2"/>
          <p:cNvSpPr txBox="1"/>
          <p:nvPr/>
        </p:nvSpPr>
        <p:spPr>
          <a:xfrm>
            <a:off x="548640" y="5074920"/>
            <a:ext cx="2103120" cy="685800"/>
          </a:xfrm>
          <a:prstGeom prst="rect">
            <a:avLst/>
          </a:prstGeom>
          <a:noFill/>
          <a:ln/>
        </p:spPr>
        <p:txBody>
          <a:bodyPr wrap="square" lIns="0" tIns="0" rIns="0" bIns="0" rtlCol="0" anchor="ctr"/>
          <a:lstStyle/>
          <a:p>
            <a:pPr indent="0" marL="0">
              <a:buNone/>
            </a:pPr>
            <a:r>
              <a:rPr lang="en-US" sz="4000" b="1" dirty="0">
                <a:solidFill>
                  <a:schemeClr val="accent3"/>
                </a:solidFill>
              </a:rPr>
              <a:t>61</a:t>
            </a:r>
            <a:endParaRPr lang="en-US" sz="4000" dirty="0"/>
          </a:p>
        </p:txBody>
      </p:sp>
      <p:sp>
        <p:nvSpPr>
          <p:cNvPr id="5" name="Text 3"/>
          <p:cNvSpPr txBox="1"/>
          <p:nvPr/>
        </p:nvSpPr>
        <p:spPr>
          <a:xfrm>
            <a:off x="548640" y="5760720"/>
            <a:ext cx="2103120" cy="457200"/>
          </a:xfrm>
          <a:prstGeom prst="rect">
            <a:avLst/>
          </a:prstGeom>
          <a:noFill/>
          <a:ln/>
        </p:spPr>
        <p:txBody>
          <a:bodyPr wrap="square" lIns="0" tIns="0" rIns="0" bIns="0" rtlCol="0" anchor="ctr"/>
          <a:lstStyle/>
          <a:p>
            <a:pPr indent="0" marL="0">
              <a:buNone/>
            </a:pPr>
            <a:r>
              <a:rPr lang="en-US" sz="1300" dirty="0">
                <a:solidFill>
                  <a:schemeClr val="tx2"/>
                </a:solidFill>
              </a:rPr>
              <a:t>resources, 0 clicks</a:t>
            </a:r>
            <a:endParaRPr lang="en-US" sz="1300" dirty="0"/>
          </a:p>
        </p:txBody>
      </p:sp>
      <p:sp>
        <p:nvSpPr>
          <p:cNvPr id="6" name="Text 4"/>
          <p:cNvSpPr txBox="1"/>
          <p:nvPr/>
        </p:nvSpPr>
        <p:spPr>
          <a:xfrm>
            <a:off x="2743200" y="5074920"/>
            <a:ext cx="2560320" cy="685800"/>
          </a:xfrm>
          <a:prstGeom prst="rect">
            <a:avLst/>
          </a:prstGeom>
          <a:noFill/>
          <a:ln/>
        </p:spPr>
        <p:txBody>
          <a:bodyPr wrap="square" lIns="0" tIns="0" rIns="0" bIns="0" rtlCol="0" anchor="ctr"/>
          <a:lstStyle/>
          <a:p>
            <a:pPr indent="0" marL="0">
              <a:buNone/>
            </a:pPr>
            <a:r>
              <a:rPr lang="en-US" sz="4000" b="1" dirty="0">
                <a:solidFill>
                  <a:schemeClr val="accent1"/>
                </a:solidFill>
              </a:rPr>
              <a:t>~$0.35/h</a:t>
            </a:r>
            <a:endParaRPr lang="en-US" sz="4000" dirty="0"/>
          </a:p>
        </p:txBody>
      </p:sp>
      <p:sp>
        <p:nvSpPr>
          <p:cNvPr id="7" name="Text 5"/>
          <p:cNvSpPr txBox="1"/>
          <p:nvPr/>
        </p:nvSpPr>
        <p:spPr>
          <a:xfrm>
            <a:off x="2743200" y="5760720"/>
            <a:ext cx="2560320" cy="457200"/>
          </a:xfrm>
          <a:prstGeom prst="rect">
            <a:avLst/>
          </a:prstGeom>
          <a:noFill/>
          <a:ln/>
        </p:spPr>
        <p:txBody>
          <a:bodyPr wrap="square" lIns="0" tIns="0" rIns="0" bIns="0" rtlCol="0" anchor="ctr"/>
          <a:lstStyle/>
          <a:p>
            <a:pPr indent="0" marL="0">
              <a:buNone/>
            </a:pPr>
            <a:r>
              <a:rPr lang="en-US" sz="1300" dirty="0">
                <a:solidFill>
                  <a:schemeClr val="tx2"/>
                </a:solidFill>
              </a:rPr>
              <a:t>while running</a:t>
            </a:r>
            <a:endParaRPr lang="en-US" sz="1300" dirty="0"/>
          </a:p>
        </p:txBody>
      </p:sp>
      <p:sp>
        <p:nvSpPr>
          <p:cNvPr id="8" name="AWS Console VPC resource map frame"/>
          <p:cNvSpPr/>
          <p:nvPr/>
        </p:nvSpPr>
        <p:spPr>
          <a:xfrm>
            <a:off x="6739128" y="1179576"/>
            <a:ext cx="3986784" cy="2532888"/>
          </a:xfrm>
          <a:prstGeom prst="roundRect">
            <a:avLst>
              <a:gd name="adj" fmla="val 2888"/>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9" name="AWS Console VPC resource map" descr="AWS Console VPC resource map">    </p:cNvPr>
          <p:cNvPicPr>
            <a:picLocks noChangeAspect="1"/>
          </p:cNvPicPr>
          <p:nvPr/>
        </p:nvPicPr>
        <p:blipFill>
          <a:blip r:embed="rId1"/>
          <a:stretch>
            <a:fillRect/>
          </a:stretch>
        </p:blipFill>
        <p:spPr>
          <a:xfrm>
            <a:off x="6793992" y="1234440"/>
            <a:ext cx="3877056" cy="2423160"/>
          </a:xfrm>
          <a:prstGeom prst="rect">
            <a:avLst/>
          </a:prstGeom>
        </p:spPr>
      </p:pic>
      <p:sp>
        <p:nvSpPr>
          <p:cNvPr id="10" name="AWS Console EKS cluster frame"/>
          <p:cNvSpPr/>
          <p:nvPr/>
        </p:nvSpPr>
        <p:spPr>
          <a:xfrm>
            <a:off x="6739128" y="3785616"/>
            <a:ext cx="3986784" cy="2532888"/>
          </a:xfrm>
          <a:prstGeom prst="roundRect">
            <a:avLst>
              <a:gd name="adj" fmla="val 2888"/>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11" name="AWS Console EKS cluster" descr="AWS Console EKS cluster">    </p:cNvPr>
          <p:cNvPicPr>
            <a:picLocks noChangeAspect="1"/>
          </p:cNvPicPr>
          <p:nvPr/>
        </p:nvPicPr>
        <p:blipFill>
          <a:blip r:embed="rId2"/>
          <a:stretch>
            <a:fillRect/>
          </a:stretch>
        </p:blipFill>
        <p:spPr>
          <a:xfrm>
            <a:off x="6793992" y="3840480"/>
            <a:ext cx="3877056" cy="242316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Kubernetes and Helm</a:t>
            </a:r>
            <a:endParaRPr lang="en-US" sz="3400" dirty="0"/>
          </a:p>
        </p:txBody>
      </p:sp>
      <p:sp>
        <p:nvSpPr>
          <p:cNvPr id="3" name="Text 1"/>
          <p:cNvSpPr txBox="1"/>
          <p:nvPr/>
        </p:nvSpPr>
        <p:spPr>
          <a:xfrm>
            <a:off x="548640" y="1325880"/>
            <a:ext cx="4937760" cy="484632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Chart helm/slotsync: </a:t>
            </a:r>
            <a:pPr indent="0" marL="0">
              <a:buNone/>
            </a:pPr>
            <a:r>
              <a:rPr lang="en-US" sz="1500" dirty="0">
                <a:solidFill>
                  <a:schemeClr val="tx2"/>
                </a:solidFill>
              </a:rPr>
              <a:t>Deployments, Services, Postgres StatefulSet, Ingress, HPA, PDBs, NetworkPolicy, ServiceMonitor, alerts, dashboard</a:t>
            </a:r>
            <a:endParaRPr lang="en-US" sz="1500" dirty="0"/>
          </a:p>
          <a:p>
            <a:pPr marL="228600" indent="-228600">
              <a:spcAft>
                <a:spcPts val="800"/>
              </a:spcAft>
              <a:buSzPct val="100000"/>
              <a:buChar char="•"/>
            </a:pPr>
            <a:r>
              <a:rPr lang="en-US" sz="1500" b="1" dirty="0">
                <a:solidFill>
                  <a:schemeClr val="tx1"/>
                </a:solidFill>
              </a:rPr>
              <a:t>Ingress: </a:t>
            </a:r>
            <a:pPr indent="0" marL="0">
              <a:buNone/>
            </a:pPr>
            <a:r>
              <a:rPr lang="en-US" sz="1500" dirty="0">
                <a:solidFill>
                  <a:schemeClr val="tx2"/>
                </a:solidFill>
              </a:rPr>
              <a:t>/ → frontend, /api and /docs → backend via ingress-nginx (NLB-ready; this new AWS account can't create load balancers yet, so the demo reaches the controller by port-forward)</a:t>
            </a:r>
            <a:endParaRPr lang="en-US" sz="1500" dirty="0"/>
          </a:p>
          <a:p>
            <a:pPr marL="228600" indent="-228600">
              <a:spcAft>
                <a:spcPts val="800"/>
              </a:spcAft>
              <a:buSzPct val="100000"/>
              <a:buChar char="•"/>
            </a:pPr>
            <a:r>
              <a:rPr lang="en-US" sz="1500" b="1" dirty="0">
                <a:solidFill>
                  <a:schemeClr val="tx1"/>
                </a:solidFill>
              </a:rPr>
              <a:t>Resilience: </a:t>
            </a:r>
            <a:pPr indent="0" marL="0">
              <a:buNone/>
            </a:pPr>
            <a:r>
              <a:rPr lang="en-US" sz="1500" dirty="0">
                <a:solidFill>
                  <a:schemeClr val="tx2"/>
                </a:solidFill>
              </a:rPr>
              <a:t>2+ replicas, startup/liveness/readiness probes, zero-downtime rolling updates</a:t>
            </a:r>
            <a:endParaRPr lang="en-US" sz="1500" dirty="0"/>
          </a:p>
          <a:p>
            <a:pPr marL="228600" indent="-228600">
              <a:spcAft>
                <a:spcPts val="800"/>
              </a:spcAft>
              <a:buSzPct val="100000"/>
              <a:buChar char="•"/>
            </a:pPr>
            <a:r>
              <a:rPr lang="en-US" sz="1500" b="1" dirty="0">
                <a:solidFill>
                  <a:schemeClr val="tx1"/>
                </a:solidFill>
              </a:rPr>
              <a:t>HPA: </a:t>
            </a:r>
            <a:pPr indent="0" marL="0">
              <a:buNone/>
            </a:pPr>
            <a:r>
              <a:rPr lang="en-US" sz="1500" dirty="0">
                <a:solidFill>
                  <a:schemeClr val="tx2"/>
                </a:solidFill>
              </a:rPr>
              <a:t>backend scales 2 → 8 on CPU; the EKS load test drove it to 8/8 pods</a:t>
            </a:r>
            <a:endParaRPr lang="en-US" sz="1500" dirty="0"/>
          </a:p>
          <a:p>
            <a:pPr marL="228600" indent="-228600">
              <a:spcAft>
                <a:spcPts val="800"/>
              </a:spcAft>
              <a:buSzPct val="100000"/>
              <a:buChar char="•"/>
            </a:pPr>
            <a:r>
              <a:rPr lang="en-US" sz="1500" b="1" dirty="0">
                <a:solidFill>
                  <a:schemeClr val="tx1"/>
                </a:solidFill>
              </a:rPr>
              <a:t>helm test: </a:t>
            </a:r>
            <a:pPr indent="0" marL="0">
              <a:buNone/>
            </a:pPr>
            <a:r>
              <a:rPr lang="en-US" sz="1500" dirty="0">
                <a:solidFill>
                  <a:schemeClr val="tx2"/>
                </a:solidFill>
              </a:rPr>
              <a:t>checks /ready and the frontend → backend proxy path</a:t>
            </a:r>
            <a:endParaRPr lang="en-US" sz="1500" dirty="0"/>
          </a:p>
        </p:txBody>
      </p:sp>
      <p:sp>
        <p:nvSpPr>
          <p:cNvPr id="4" name="kubectl get pods and services frame"/>
          <p:cNvSpPr/>
          <p:nvPr/>
        </p:nvSpPr>
        <p:spPr>
          <a:xfrm>
            <a:off x="5734087" y="1179576"/>
            <a:ext cx="5996867" cy="2715768"/>
          </a:xfrm>
          <a:prstGeom prst="roundRect">
            <a:avLst>
              <a:gd name="adj" fmla="val 2694"/>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5" name="kubectl get pods and services" descr="kubectl get pods and services">    </p:cNvPr>
          <p:cNvPicPr>
            <a:picLocks noChangeAspect="1"/>
          </p:cNvPicPr>
          <p:nvPr/>
        </p:nvPicPr>
        <p:blipFill>
          <a:blip r:embed="rId1"/>
          <a:stretch>
            <a:fillRect/>
          </a:stretch>
        </p:blipFill>
        <p:spPr>
          <a:xfrm>
            <a:off x="5788951" y="1234440"/>
            <a:ext cx="5887139" cy="2606040"/>
          </a:xfrm>
          <a:prstGeom prst="rect">
            <a:avLst/>
          </a:prstGeom>
        </p:spPr>
      </p:pic>
      <p:sp>
        <p:nvSpPr>
          <p:cNvPr id="6" name="helm list and helm test frame"/>
          <p:cNvSpPr/>
          <p:nvPr/>
        </p:nvSpPr>
        <p:spPr>
          <a:xfrm>
            <a:off x="5705856" y="4017721"/>
            <a:ext cx="6053328" cy="2205838"/>
          </a:xfrm>
          <a:prstGeom prst="roundRect">
            <a:avLst>
              <a:gd name="adj" fmla="val 3316"/>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7" name="helm list and helm test" descr="helm list and helm test">    </p:cNvPr>
          <p:cNvPicPr>
            <a:picLocks noChangeAspect="1"/>
          </p:cNvPicPr>
          <p:nvPr/>
        </p:nvPicPr>
        <p:blipFill>
          <a:blip r:embed="rId2"/>
          <a:stretch>
            <a:fillRect/>
          </a:stretch>
        </p:blipFill>
        <p:spPr>
          <a:xfrm>
            <a:off x="5760720" y="4072585"/>
            <a:ext cx="5943600" cy="209611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GitOps with Argo CD</a:t>
            </a:r>
            <a:endParaRPr lang="en-US" sz="3400" dirty="0"/>
          </a:p>
        </p:txBody>
      </p:sp>
      <p:sp>
        <p:nvSpPr>
          <p:cNvPr id="3" name="git push"/>
          <p:cNvSpPr/>
          <p:nvPr/>
        </p:nvSpPr>
        <p:spPr>
          <a:xfrm>
            <a:off x="548640" y="1371600"/>
            <a:ext cx="3291840" cy="685800"/>
          </a:xfrm>
          <a:prstGeom prst="roundRect">
            <a:avLst>
              <a:gd name="adj" fmla="val 16000"/>
            </a:avLst>
          </a:prstGeom>
          <a:solidFill>
            <a:srgbClr val="0F172A"/>
          </a:solidFill>
          <a:ln w="12700">
            <a:solidFill>
              <a:srgbClr val="0F172A"/>
            </a:solidFill>
            <a:prstDash val="solid"/>
          </a:ln>
        </p:spPr>
      </p:sp>
      <p:sp>
        <p:nvSpPr>
          <p:cNvPr id="4" name="Text 2"/>
          <p:cNvSpPr txBox="1"/>
          <p:nvPr/>
        </p:nvSpPr>
        <p:spPr>
          <a:xfrm>
            <a:off x="731520" y="1371600"/>
            <a:ext cx="3017520" cy="685800"/>
          </a:xfrm>
          <a:prstGeom prst="rect">
            <a:avLst/>
          </a:prstGeom>
          <a:noFill/>
          <a:ln/>
        </p:spPr>
        <p:txBody>
          <a:bodyPr wrap="square" lIns="0" tIns="0" rIns="0" bIns="0" rtlCol="0" anchor="ctr"/>
          <a:lstStyle/>
          <a:p>
            <a:pPr indent="0" marL="0">
              <a:buNone/>
            </a:pPr>
            <a:r>
              <a:rPr lang="en-US" sz="1700" b="1" dirty="0">
                <a:solidFill>
                  <a:schemeClr val="bg1"/>
                </a:solidFill>
              </a:rPr>
              <a:t>1.  git push</a:t>
            </a:r>
            <a:endParaRPr lang="en-US" sz="1700" dirty="0"/>
          </a:p>
        </p:txBody>
      </p:sp>
      <p:sp>
        <p:nvSpPr>
          <p:cNvPr id="5" name="pipeline green"/>
          <p:cNvSpPr/>
          <p:nvPr/>
        </p:nvSpPr>
        <p:spPr>
          <a:xfrm>
            <a:off x="548640" y="2304288"/>
            <a:ext cx="3291840" cy="685800"/>
          </a:xfrm>
          <a:prstGeom prst="roundRect">
            <a:avLst>
              <a:gd name="adj" fmla="val 16000"/>
            </a:avLst>
          </a:prstGeom>
          <a:solidFill>
            <a:srgbClr val="10B981"/>
          </a:solidFill>
          <a:ln w="12700">
            <a:solidFill>
              <a:srgbClr val="10B981"/>
            </a:solidFill>
            <a:prstDash val="solid"/>
          </a:ln>
        </p:spPr>
      </p:sp>
      <p:sp>
        <p:nvSpPr>
          <p:cNvPr id="6" name="Text 4"/>
          <p:cNvSpPr txBox="1"/>
          <p:nvPr/>
        </p:nvSpPr>
        <p:spPr>
          <a:xfrm>
            <a:off x="731520" y="2304288"/>
            <a:ext cx="3017520" cy="685800"/>
          </a:xfrm>
          <a:prstGeom prst="rect">
            <a:avLst/>
          </a:prstGeom>
          <a:noFill/>
          <a:ln/>
        </p:spPr>
        <p:txBody>
          <a:bodyPr wrap="square" lIns="0" tIns="0" rIns="0" bIns="0" rtlCol="0" anchor="ctr"/>
          <a:lstStyle/>
          <a:p>
            <a:pPr indent="0" marL="0">
              <a:buNone/>
            </a:pPr>
            <a:r>
              <a:rPr lang="en-US" sz="1700" b="1" dirty="0">
                <a:solidFill>
                  <a:schemeClr val="bg1"/>
                </a:solidFill>
              </a:rPr>
              <a:t>2.  pipeline green</a:t>
            </a:r>
            <a:endParaRPr lang="en-US" sz="1700" dirty="0"/>
          </a:p>
        </p:txBody>
      </p:sp>
      <p:sp>
        <p:nvSpPr>
          <p:cNvPr id="7" name="bot commits SHA"/>
          <p:cNvSpPr/>
          <p:nvPr/>
        </p:nvSpPr>
        <p:spPr>
          <a:xfrm>
            <a:off x="548640" y="3236976"/>
            <a:ext cx="3291840" cy="685800"/>
          </a:xfrm>
          <a:prstGeom prst="roundRect">
            <a:avLst>
              <a:gd name="adj" fmla="val 16000"/>
            </a:avLst>
          </a:prstGeom>
          <a:solidFill>
            <a:srgbClr val="EC4899"/>
          </a:solidFill>
          <a:ln w="12700">
            <a:solidFill>
              <a:srgbClr val="EC4899"/>
            </a:solidFill>
            <a:prstDash val="solid"/>
          </a:ln>
        </p:spPr>
      </p:sp>
      <p:sp>
        <p:nvSpPr>
          <p:cNvPr id="8" name="Text 6"/>
          <p:cNvSpPr txBox="1"/>
          <p:nvPr/>
        </p:nvSpPr>
        <p:spPr>
          <a:xfrm>
            <a:off x="731520" y="3236976"/>
            <a:ext cx="3017520" cy="685800"/>
          </a:xfrm>
          <a:prstGeom prst="rect">
            <a:avLst/>
          </a:prstGeom>
          <a:noFill/>
          <a:ln/>
        </p:spPr>
        <p:txBody>
          <a:bodyPr wrap="square" lIns="0" tIns="0" rIns="0" bIns="0" rtlCol="0" anchor="ctr"/>
          <a:lstStyle/>
          <a:p>
            <a:pPr indent="0" marL="0">
              <a:buNone/>
            </a:pPr>
            <a:r>
              <a:rPr lang="en-US" sz="1700" b="1" dirty="0">
                <a:solidFill>
                  <a:schemeClr val="bg1"/>
                </a:solidFill>
              </a:rPr>
              <a:t>3.  bot commits SHA</a:t>
            </a:r>
            <a:endParaRPr lang="en-US" sz="1700" dirty="0"/>
          </a:p>
        </p:txBody>
      </p:sp>
      <p:sp>
        <p:nvSpPr>
          <p:cNvPr id="9" name="Argo CD syncs"/>
          <p:cNvSpPr/>
          <p:nvPr/>
        </p:nvSpPr>
        <p:spPr>
          <a:xfrm>
            <a:off x="548640" y="4169664"/>
            <a:ext cx="3291840" cy="685800"/>
          </a:xfrm>
          <a:prstGeom prst="roundRect">
            <a:avLst>
              <a:gd name="adj" fmla="val 16000"/>
            </a:avLst>
          </a:prstGeom>
          <a:solidFill>
            <a:srgbClr val="6366F1"/>
          </a:solidFill>
          <a:ln w="12700">
            <a:solidFill>
              <a:srgbClr val="6366F1"/>
            </a:solidFill>
            <a:prstDash val="solid"/>
          </a:ln>
        </p:spPr>
      </p:sp>
      <p:sp>
        <p:nvSpPr>
          <p:cNvPr id="10" name="Text 8"/>
          <p:cNvSpPr txBox="1"/>
          <p:nvPr/>
        </p:nvSpPr>
        <p:spPr>
          <a:xfrm>
            <a:off x="731520" y="4169664"/>
            <a:ext cx="3017520" cy="685800"/>
          </a:xfrm>
          <a:prstGeom prst="rect">
            <a:avLst/>
          </a:prstGeom>
          <a:noFill/>
          <a:ln/>
        </p:spPr>
        <p:txBody>
          <a:bodyPr wrap="square" lIns="0" tIns="0" rIns="0" bIns="0" rtlCol="0" anchor="ctr"/>
          <a:lstStyle/>
          <a:p>
            <a:pPr indent="0" marL="0">
              <a:buNone/>
            </a:pPr>
            <a:r>
              <a:rPr lang="en-US" sz="1700" b="1" dirty="0">
                <a:solidFill>
                  <a:schemeClr val="bg1"/>
                </a:solidFill>
              </a:rPr>
              <a:t>4.  Argo CD syncs</a:t>
            </a:r>
            <a:endParaRPr lang="en-US" sz="1700" dirty="0"/>
          </a:p>
        </p:txBody>
      </p:sp>
      <p:sp>
        <p:nvSpPr>
          <p:cNvPr id="11" name="rolling update"/>
          <p:cNvSpPr/>
          <p:nvPr/>
        </p:nvSpPr>
        <p:spPr>
          <a:xfrm>
            <a:off x="548640" y="5102352"/>
            <a:ext cx="3291840" cy="685800"/>
          </a:xfrm>
          <a:prstGeom prst="roundRect">
            <a:avLst>
              <a:gd name="adj" fmla="val 16000"/>
            </a:avLst>
          </a:prstGeom>
          <a:solidFill>
            <a:srgbClr val="0EA5E9"/>
          </a:solidFill>
          <a:ln w="12700">
            <a:solidFill>
              <a:srgbClr val="0EA5E9"/>
            </a:solidFill>
            <a:prstDash val="solid"/>
          </a:ln>
        </p:spPr>
      </p:sp>
      <p:sp>
        <p:nvSpPr>
          <p:cNvPr id="12" name="Text 10"/>
          <p:cNvSpPr txBox="1"/>
          <p:nvPr/>
        </p:nvSpPr>
        <p:spPr>
          <a:xfrm>
            <a:off x="731520" y="5102352"/>
            <a:ext cx="3017520" cy="685800"/>
          </a:xfrm>
          <a:prstGeom prst="rect">
            <a:avLst/>
          </a:prstGeom>
          <a:noFill/>
          <a:ln/>
        </p:spPr>
        <p:txBody>
          <a:bodyPr wrap="square" lIns="0" tIns="0" rIns="0" bIns="0" rtlCol="0" anchor="ctr"/>
          <a:lstStyle/>
          <a:p>
            <a:pPr indent="0" marL="0">
              <a:buNone/>
            </a:pPr>
            <a:r>
              <a:rPr lang="en-US" sz="1700" b="1" dirty="0">
                <a:solidFill>
                  <a:schemeClr val="bg1"/>
                </a:solidFill>
              </a:rPr>
              <a:t>5.  rolling update</a:t>
            </a:r>
            <a:endParaRPr lang="en-US" sz="1700" dirty="0"/>
          </a:p>
        </p:txBody>
      </p:sp>
      <p:sp>
        <p:nvSpPr>
          <p:cNvPr id="13" name="Text 11"/>
          <p:cNvSpPr txBox="1"/>
          <p:nvPr/>
        </p:nvSpPr>
        <p:spPr>
          <a:xfrm>
            <a:off x="4114800" y="5715000"/>
            <a:ext cx="7589520" cy="548640"/>
          </a:xfrm>
          <a:prstGeom prst="rect">
            <a:avLst/>
          </a:prstGeom>
          <a:noFill/>
          <a:ln/>
        </p:spPr>
        <p:txBody>
          <a:bodyPr wrap="square" lIns="0" tIns="0" rIns="0" bIns="0" rtlCol="0" anchor="ctr"/>
          <a:lstStyle/>
          <a:p>
            <a:pPr indent="0" marL="0">
              <a:buNone/>
            </a:pPr>
            <a:r>
              <a:rPr lang="en-US" sz="1400" i="1" dirty="0">
                <a:solidFill>
                  <a:schemeClr val="tx2"/>
                </a:solidFill>
              </a:rPr>
              <a:t>Live on EKS: push eb90e7c → green pipeline → bot commit be5839a → Argo CD rolled all 8 backend pods with zero downtime. Rollback = git revert.</a:t>
            </a:r>
            <a:endParaRPr lang="en-US" sz="1400" dirty="0"/>
          </a:p>
        </p:txBody>
      </p:sp>
      <p:sp>
        <p:nvSpPr>
          <p:cNvPr id="14" name="Argo CD application frame"/>
          <p:cNvSpPr/>
          <p:nvPr/>
        </p:nvSpPr>
        <p:spPr>
          <a:xfrm>
            <a:off x="4379976" y="1179576"/>
            <a:ext cx="7059168" cy="4453128"/>
          </a:xfrm>
          <a:prstGeom prst="roundRect">
            <a:avLst>
              <a:gd name="adj" fmla="val 1643"/>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15" name="Argo CD application" descr="Argo CD application">    </p:cNvPr>
          <p:cNvPicPr>
            <a:picLocks noChangeAspect="1"/>
          </p:cNvPicPr>
          <p:nvPr/>
        </p:nvPicPr>
        <p:blipFill>
          <a:blip r:embed="rId1"/>
          <a:stretch>
            <a:fillRect/>
          </a:stretch>
        </p:blipFill>
        <p:spPr>
          <a:xfrm>
            <a:off x="4434840" y="1234440"/>
            <a:ext cx="6949440" cy="434340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Observability</a:t>
            </a:r>
            <a:endParaRPr lang="en-US" sz="3400" dirty="0"/>
          </a:p>
        </p:txBody>
      </p:sp>
      <p:sp>
        <p:nvSpPr>
          <p:cNvPr id="3" name="Text 1"/>
          <p:cNvSpPr txBox="1"/>
          <p:nvPr/>
        </p:nvSpPr>
        <p:spPr>
          <a:xfrm>
            <a:off x="548640" y="1325880"/>
            <a:ext cx="3931920" cy="484632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1"/>
                </a:solidFill>
              </a:rPr>
              <a:t>/metrics: </a:t>
            </a:r>
            <a:pPr indent="0" marL="0">
              <a:buNone/>
            </a:pPr>
            <a:r>
              <a:rPr lang="en-US" sz="1400" dirty="0">
                <a:solidFill>
                  <a:schemeClr val="tx2"/>
                </a:solidFill>
              </a:rPr>
              <a:t>request count, latency histograms and business counters (bookings, status changes, rejected double-bookings)</a:t>
            </a:r>
            <a:endParaRPr lang="en-US" sz="1400" dirty="0"/>
          </a:p>
          <a:p>
            <a:pPr marL="228600" indent="-228600">
              <a:spcAft>
                <a:spcPts val="800"/>
              </a:spcAft>
              <a:buSzPct val="100000"/>
              <a:buChar char="•"/>
            </a:pPr>
            <a:r>
              <a:rPr lang="en-US" sz="1400" b="1" dirty="0">
                <a:solidFill>
                  <a:schemeClr val="tx1"/>
                </a:solidFill>
              </a:rPr>
              <a:t>Prometheus: </a:t>
            </a:r>
            <a:pPr indent="0" marL="0">
              <a:buNone/>
            </a:pPr>
            <a:r>
              <a:rPr lang="en-US" sz="1400" dirty="0">
                <a:solidFill>
                  <a:schemeClr val="tx2"/>
                </a:solidFill>
              </a:rPr>
              <a:t>kube-prometheus-stack; a ServiceMonitor scrapes each backend pod every 15 s</a:t>
            </a:r>
            <a:endParaRPr lang="en-US" sz="1400" dirty="0"/>
          </a:p>
          <a:p>
            <a:pPr marL="228600" indent="-228600">
              <a:spcAft>
                <a:spcPts val="800"/>
              </a:spcAft>
              <a:buSzPct val="100000"/>
              <a:buChar char="•"/>
            </a:pPr>
            <a:r>
              <a:rPr lang="en-US" sz="1400" b="1" dirty="0">
                <a:solidFill>
                  <a:schemeClr val="tx1"/>
                </a:solidFill>
              </a:rPr>
              <a:t>Alerts: </a:t>
            </a:r>
            <a:pPr indent="0" marL="0">
              <a:buNone/>
            </a:pPr>
            <a:r>
              <a:rPr lang="en-US" sz="1400" dirty="0">
                <a:solidFill>
                  <a:schemeClr val="tx2"/>
                </a:solidFill>
              </a:rPr>
              <a:t>backend down, 5xx above 5%, p95 latency above 500 ms</a:t>
            </a:r>
            <a:endParaRPr lang="en-US" sz="1400" dirty="0"/>
          </a:p>
          <a:p>
            <a:pPr marL="228600" indent="-228600">
              <a:spcAft>
                <a:spcPts val="800"/>
              </a:spcAft>
              <a:buSzPct val="100000"/>
              <a:buChar char="•"/>
            </a:pPr>
            <a:r>
              <a:rPr lang="en-US" sz="1400" b="1" dirty="0">
                <a:solidFill>
                  <a:schemeClr val="tx1"/>
                </a:solidFill>
              </a:rPr>
              <a:t>Grafana: </a:t>
            </a:r>
            <a:pPr indent="0" marL="0">
              <a:buNone/>
            </a:pPr>
            <a:r>
              <a:rPr lang="en-US" sz="1400" dirty="0">
                <a:solidFill>
                  <a:schemeClr val="tx2"/>
                </a:solidFill>
              </a:rPr>
              <a:t>19-panel dashboard generated from code and shipped by the Helm chart</a:t>
            </a:r>
            <a:endParaRPr lang="en-US" sz="1400" dirty="0"/>
          </a:p>
        </p:txBody>
      </p:sp>
      <p:sp>
        <p:nvSpPr>
          <p:cNvPr id="4" name="Grafana dashboard frame"/>
          <p:cNvSpPr/>
          <p:nvPr/>
        </p:nvSpPr>
        <p:spPr>
          <a:xfrm>
            <a:off x="5641848" y="1179576"/>
            <a:ext cx="5084064" cy="3218688"/>
          </a:xfrm>
          <a:prstGeom prst="roundRect">
            <a:avLst>
              <a:gd name="adj" fmla="val 2273"/>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5" name="Grafana dashboard" descr="Grafana dashboard">    </p:cNvPr>
          <p:cNvPicPr>
            <a:picLocks noChangeAspect="1"/>
          </p:cNvPicPr>
          <p:nvPr/>
        </p:nvPicPr>
        <p:blipFill>
          <a:blip r:embed="rId1"/>
          <a:stretch>
            <a:fillRect/>
          </a:stretch>
        </p:blipFill>
        <p:spPr>
          <a:xfrm>
            <a:off x="5696712" y="1234440"/>
            <a:ext cx="4974336" cy="3108960"/>
          </a:xfrm>
          <a:prstGeom prst="rect">
            <a:avLst/>
          </a:prstGeom>
        </p:spPr>
      </p:pic>
      <p:sp>
        <p:nvSpPr>
          <p:cNvPr id="6" name="Prometheus targets frame"/>
          <p:cNvSpPr/>
          <p:nvPr/>
        </p:nvSpPr>
        <p:spPr>
          <a:xfrm>
            <a:off x="5690616" y="4654296"/>
            <a:ext cx="4986528" cy="1664208"/>
          </a:xfrm>
          <a:prstGeom prst="roundRect">
            <a:avLst>
              <a:gd name="adj" fmla="val 4396"/>
            </a:avLst>
          </a:prstGeom>
          <a:solidFill>
            <a:schemeClr val="bg1"/>
          </a:solidFill>
          <a:ln w="12700">
            <a:solidFill>
              <a:srgbClr val="E2E8F0"/>
            </a:solidFill>
            <a:prstDash val="solid"/>
          </a:ln>
          <a:effectLst>
            <a:outerShdw sx="100000" sy="100000" kx="0" ky="0" algn="bl" rotWithShape="0" blurRad="127000" dist="38100" dir="5400000">
              <a:srgbClr val="0F172A">
                <a:alpha val="18000"/>
              </a:srgbClr>
            </a:outerShdw>
          </a:effectLst>
        </p:spPr>
      </p:sp>
      <p:pic>
        <p:nvPicPr>
          <p:cNvPr id="7" name="Prometheus targets" descr="Prometheus targets">    </p:cNvPr>
          <p:cNvPicPr>
            <a:picLocks noChangeAspect="1"/>
          </p:cNvPicPr>
          <p:nvPr/>
        </p:nvPicPr>
        <p:blipFill>
          <a:blip r:embed="rId2"/>
          <a:stretch>
            <a:fillRect/>
          </a:stretch>
        </p:blipFill>
        <p:spPr>
          <a:xfrm>
            <a:off x="5745480" y="4709160"/>
            <a:ext cx="4876800" cy="155448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Key learnings</a:t>
            </a:r>
            <a:endParaRPr lang="en-US" sz="3400" dirty="0"/>
          </a:p>
        </p:txBody>
      </p:sp>
      <p:sp>
        <p:nvSpPr>
          <p:cNvPr id="3" name="Scanners earn their place"/>
          <p:cNvSpPr/>
          <p:nvPr/>
        </p:nvSpPr>
        <p:spPr>
          <a:xfrm>
            <a:off x="548640" y="1371600"/>
            <a:ext cx="3520440" cy="2194560"/>
          </a:xfrm>
          <a:prstGeom prst="roundRect">
            <a:avLst>
              <a:gd name="adj" fmla="val 5000"/>
            </a:avLst>
          </a:prstGeom>
          <a:solidFill>
            <a:srgbClr val="F8FAFC"/>
          </a:solidFill>
          <a:ln w="12700">
            <a:solidFill>
              <a:srgbClr val="E2E8F0"/>
            </a:solidFill>
            <a:prstDash val="solid"/>
          </a:ln>
        </p:spPr>
      </p:sp>
      <p:sp>
        <p:nvSpPr>
          <p:cNvPr id="4" name="icon circle"/>
          <p:cNvSpPr/>
          <p:nvPr/>
        </p:nvSpPr>
        <p:spPr>
          <a:xfrm>
            <a:off x="777240" y="1600200"/>
            <a:ext cx="548640" cy="548640"/>
          </a:xfrm>
          <a:prstGeom prst="ellipse">
            <a:avLst/>
          </a:prstGeom>
          <a:solidFill>
            <a:srgbClr val="EC4899"/>
          </a:solidFill>
          <a:ln w="12700">
            <a:solidFill>
              <a:srgbClr val="EC4899"/>
            </a:solidFill>
            <a:prstDash val="solid"/>
          </a:ln>
        </p:spPr>
      </p:sp>
      <p:pic>
        <p:nvPicPr>
          <p:cNvPr id="5" name="icon" descr="preencoded.png">    </p:cNvPr>
          <p:cNvPicPr>
            <a:picLocks noChangeAspect="1"/>
          </p:cNvPicPr>
          <p:nvPr/>
        </p:nvPicPr>
        <p:blipFill>
          <a:blip r:embed="rId1"/>
          <a:stretch>
            <a:fillRect/>
          </a:stretch>
        </p:blipFill>
        <p:spPr>
          <a:xfrm>
            <a:off x="908914" y="1731874"/>
            <a:ext cx="285293" cy="285293"/>
          </a:xfrm>
          <a:prstGeom prst="rect">
            <a:avLst/>
          </a:prstGeom>
        </p:spPr>
      </p:pic>
      <p:sp>
        <p:nvSpPr>
          <p:cNvPr id="6" name="Text 3"/>
          <p:cNvSpPr txBox="1"/>
          <p:nvPr/>
        </p:nvSpPr>
        <p:spPr>
          <a:xfrm>
            <a:off x="777240" y="224028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Scanners earn their place</a:t>
            </a:r>
            <a:endParaRPr lang="en-US" sz="1700" dirty="0"/>
          </a:p>
        </p:txBody>
      </p:sp>
      <p:sp>
        <p:nvSpPr>
          <p:cNvPr id="7" name="Text 4"/>
          <p:cNvSpPr txBox="1"/>
          <p:nvPr/>
        </p:nvSpPr>
        <p:spPr>
          <a:xfrm>
            <a:off x="777240" y="2651760"/>
            <a:ext cx="3108960" cy="822960"/>
          </a:xfrm>
          <a:prstGeom prst="rect">
            <a:avLst/>
          </a:prstGeom>
          <a:noFill/>
          <a:ln/>
        </p:spPr>
        <p:txBody>
          <a:bodyPr wrap="square" lIns="0" tIns="0" rIns="0" bIns="0" rtlCol="0" anchor="ctr"/>
          <a:lstStyle/>
          <a:p>
            <a:pPr indent="0" marL="0">
              <a:buNone/>
            </a:pPr>
            <a:r>
              <a:rPr lang="en-US" sz="1300" dirty="0">
                <a:solidFill>
                  <a:schemeClr val="tx2"/>
                </a:solidFill>
              </a:rPr>
              <a:t>Trivy found 7 real HIGH CVEs on day one - two came from pip, which the app never needed at runtime.</a:t>
            </a:r>
            <a:endParaRPr lang="en-US" sz="1300" dirty="0"/>
          </a:p>
        </p:txBody>
      </p:sp>
      <p:sp>
        <p:nvSpPr>
          <p:cNvPr id="8" name="Start-up order matters"/>
          <p:cNvSpPr/>
          <p:nvPr/>
        </p:nvSpPr>
        <p:spPr>
          <a:xfrm>
            <a:off x="4297680" y="1371600"/>
            <a:ext cx="3520440" cy="2194560"/>
          </a:xfrm>
          <a:prstGeom prst="roundRect">
            <a:avLst>
              <a:gd name="adj" fmla="val 5000"/>
            </a:avLst>
          </a:prstGeom>
          <a:solidFill>
            <a:srgbClr val="F8FAFC"/>
          </a:solidFill>
          <a:ln w="12700">
            <a:solidFill>
              <a:srgbClr val="E2E8F0"/>
            </a:solidFill>
            <a:prstDash val="solid"/>
          </a:ln>
        </p:spPr>
      </p:sp>
      <p:sp>
        <p:nvSpPr>
          <p:cNvPr id="9" name="icon circle"/>
          <p:cNvSpPr/>
          <p:nvPr/>
        </p:nvSpPr>
        <p:spPr>
          <a:xfrm>
            <a:off x="4526280" y="1600200"/>
            <a:ext cx="548640" cy="548640"/>
          </a:xfrm>
          <a:prstGeom prst="ellipse">
            <a:avLst/>
          </a:prstGeom>
          <a:solidFill>
            <a:srgbClr val="F59E0B"/>
          </a:solidFill>
          <a:ln w="12700">
            <a:solidFill>
              <a:srgbClr val="F59E0B"/>
            </a:solidFill>
            <a:prstDash val="solid"/>
          </a:ln>
        </p:spPr>
      </p:sp>
      <p:pic>
        <p:nvPicPr>
          <p:cNvPr id="10" name="icon" descr="preencoded.png">    </p:cNvPr>
          <p:cNvPicPr>
            <a:picLocks noChangeAspect="1"/>
          </p:cNvPicPr>
          <p:nvPr/>
        </p:nvPicPr>
        <p:blipFill>
          <a:blip r:embed="rId2"/>
          <a:stretch>
            <a:fillRect/>
          </a:stretch>
        </p:blipFill>
        <p:spPr>
          <a:xfrm>
            <a:off x="4657954" y="1731874"/>
            <a:ext cx="285293" cy="285293"/>
          </a:xfrm>
          <a:prstGeom prst="rect">
            <a:avLst/>
          </a:prstGeom>
        </p:spPr>
      </p:pic>
      <p:sp>
        <p:nvSpPr>
          <p:cNvPr id="11" name="Text 7"/>
          <p:cNvSpPr txBox="1"/>
          <p:nvPr/>
        </p:nvSpPr>
        <p:spPr>
          <a:xfrm>
            <a:off x="4526280" y="224028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Start-up order matters</a:t>
            </a:r>
            <a:endParaRPr lang="en-US" sz="1700" dirty="0"/>
          </a:p>
        </p:txBody>
      </p:sp>
      <p:sp>
        <p:nvSpPr>
          <p:cNvPr id="12" name="Text 8"/>
          <p:cNvSpPr txBox="1"/>
          <p:nvPr/>
        </p:nvSpPr>
        <p:spPr>
          <a:xfrm>
            <a:off x="4526280" y="2651760"/>
            <a:ext cx="3108960" cy="822960"/>
          </a:xfrm>
          <a:prstGeom prst="rect">
            <a:avLst/>
          </a:prstGeom>
          <a:noFill/>
          <a:ln/>
        </p:spPr>
        <p:txBody>
          <a:bodyPr wrap="square" lIns="0" tIns="0" rIns="0" bIns="0" rtlCol="0" anchor="ctr"/>
          <a:lstStyle/>
          <a:p>
            <a:pPr indent="0" marL="0">
              <a:buNone/>
            </a:pPr>
            <a:r>
              <a:rPr lang="en-US" sz="1300" dirty="0">
                <a:solidFill>
                  <a:schemeClr val="tx2"/>
                </a:solidFill>
              </a:rPr>
              <a:t>Pods crash-looped while Postgres initialised; a wait-for-DB step and an advisory lock fixed restarts and migration races.</a:t>
            </a:r>
            <a:endParaRPr lang="en-US" sz="1300" dirty="0"/>
          </a:p>
        </p:txBody>
      </p:sp>
      <p:sp>
        <p:nvSpPr>
          <p:cNvPr id="13" name="GitOps simplifies CD"/>
          <p:cNvSpPr/>
          <p:nvPr/>
        </p:nvSpPr>
        <p:spPr>
          <a:xfrm>
            <a:off x="8046720" y="1371600"/>
            <a:ext cx="3520440" cy="2194560"/>
          </a:xfrm>
          <a:prstGeom prst="roundRect">
            <a:avLst>
              <a:gd name="adj" fmla="val 5000"/>
            </a:avLst>
          </a:prstGeom>
          <a:solidFill>
            <a:srgbClr val="F8FAFC"/>
          </a:solidFill>
          <a:ln w="12700">
            <a:solidFill>
              <a:srgbClr val="E2E8F0"/>
            </a:solidFill>
            <a:prstDash val="solid"/>
          </a:ln>
        </p:spPr>
      </p:sp>
      <p:sp>
        <p:nvSpPr>
          <p:cNvPr id="14" name="icon circle"/>
          <p:cNvSpPr/>
          <p:nvPr/>
        </p:nvSpPr>
        <p:spPr>
          <a:xfrm>
            <a:off x="8275320" y="1600200"/>
            <a:ext cx="548640" cy="548640"/>
          </a:xfrm>
          <a:prstGeom prst="ellipse">
            <a:avLst/>
          </a:prstGeom>
          <a:solidFill>
            <a:srgbClr val="6366F1"/>
          </a:solidFill>
          <a:ln w="12700">
            <a:solidFill>
              <a:srgbClr val="6366F1"/>
            </a:solidFill>
            <a:prstDash val="solid"/>
          </a:ln>
        </p:spPr>
      </p:sp>
      <p:pic>
        <p:nvPicPr>
          <p:cNvPr id="15" name="icon" descr="preencoded.png">    </p:cNvPr>
          <p:cNvPicPr>
            <a:picLocks noChangeAspect="1"/>
          </p:cNvPicPr>
          <p:nvPr/>
        </p:nvPicPr>
        <p:blipFill>
          <a:blip r:embed="rId3"/>
          <a:stretch>
            <a:fillRect/>
          </a:stretch>
        </p:blipFill>
        <p:spPr>
          <a:xfrm>
            <a:off x="8406994" y="1731874"/>
            <a:ext cx="285293" cy="285293"/>
          </a:xfrm>
          <a:prstGeom prst="rect">
            <a:avLst/>
          </a:prstGeom>
        </p:spPr>
      </p:pic>
      <p:sp>
        <p:nvSpPr>
          <p:cNvPr id="16" name="Text 11"/>
          <p:cNvSpPr txBox="1"/>
          <p:nvPr/>
        </p:nvSpPr>
        <p:spPr>
          <a:xfrm>
            <a:off x="8275320" y="224028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GitOps simplifies CD</a:t>
            </a:r>
            <a:endParaRPr lang="en-US" sz="1700" dirty="0"/>
          </a:p>
        </p:txBody>
      </p:sp>
      <p:sp>
        <p:nvSpPr>
          <p:cNvPr id="17" name="Text 12"/>
          <p:cNvSpPr txBox="1"/>
          <p:nvPr/>
        </p:nvSpPr>
        <p:spPr>
          <a:xfrm>
            <a:off x="8275320" y="2651760"/>
            <a:ext cx="3108960" cy="822960"/>
          </a:xfrm>
          <a:prstGeom prst="rect">
            <a:avLst/>
          </a:prstGeom>
          <a:noFill/>
          <a:ln/>
        </p:spPr>
        <p:txBody>
          <a:bodyPr wrap="square" lIns="0" tIns="0" rIns="0" bIns="0" rtlCol="0" anchor="ctr"/>
          <a:lstStyle/>
          <a:p>
            <a:pPr indent="0" marL="0">
              <a:buNone/>
            </a:pPr>
            <a:r>
              <a:rPr lang="en-US" sz="1300" dirty="0">
                <a:solidFill>
                  <a:schemeClr val="tx2"/>
                </a:solidFill>
              </a:rPr>
              <a:t>CI only writes a SHA to Git. No kubeconfig in GitHub, and rollback is a git revert.</a:t>
            </a:r>
            <a:endParaRPr lang="en-US" sz="1300" dirty="0"/>
          </a:p>
        </p:txBody>
      </p:sp>
      <p:sp>
        <p:nvSpPr>
          <p:cNvPr id="18" name="Cloud is more than code"/>
          <p:cNvSpPr/>
          <p:nvPr/>
        </p:nvSpPr>
        <p:spPr>
          <a:xfrm>
            <a:off x="548640" y="3794760"/>
            <a:ext cx="3520440" cy="2194560"/>
          </a:xfrm>
          <a:prstGeom prst="roundRect">
            <a:avLst>
              <a:gd name="adj" fmla="val 5000"/>
            </a:avLst>
          </a:prstGeom>
          <a:solidFill>
            <a:srgbClr val="F8FAFC"/>
          </a:solidFill>
          <a:ln w="12700">
            <a:solidFill>
              <a:srgbClr val="E2E8F0"/>
            </a:solidFill>
            <a:prstDash val="solid"/>
          </a:ln>
        </p:spPr>
      </p:sp>
      <p:sp>
        <p:nvSpPr>
          <p:cNvPr id="19" name="icon circle"/>
          <p:cNvSpPr/>
          <p:nvPr/>
        </p:nvSpPr>
        <p:spPr>
          <a:xfrm>
            <a:off x="777240" y="4023360"/>
            <a:ext cx="548640" cy="548640"/>
          </a:xfrm>
          <a:prstGeom prst="ellipse">
            <a:avLst/>
          </a:prstGeom>
          <a:solidFill>
            <a:srgbClr val="0EA5E9"/>
          </a:solidFill>
          <a:ln w="12700">
            <a:solidFill>
              <a:srgbClr val="0EA5E9"/>
            </a:solidFill>
            <a:prstDash val="solid"/>
          </a:ln>
        </p:spPr>
      </p:sp>
      <p:pic>
        <p:nvPicPr>
          <p:cNvPr id="20" name="icon" descr="preencoded.png">    </p:cNvPr>
          <p:cNvPicPr>
            <a:picLocks noChangeAspect="1"/>
          </p:cNvPicPr>
          <p:nvPr/>
        </p:nvPicPr>
        <p:blipFill>
          <a:blip r:embed="rId4"/>
          <a:stretch>
            <a:fillRect/>
          </a:stretch>
        </p:blipFill>
        <p:spPr>
          <a:xfrm>
            <a:off x="908914" y="4155034"/>
            <a:ext cx="285293" cy="285293"/>
          </a:xfrm>
          <a:prstGeom prst="rect">
            <a:avLst/>
          </a:prstGeom>
        </p:spPr>
      </p:pic>
      <p:sp>
        <p:nvSpPr>
          <p:cNvPr id="21" name="Text 15"/>
          <p:cNvSpPr txBox="1"/>
          <p:nvPr/>
        </p:nvSpPr>
        <p:spPr>
          <a:xfrm>
            <a:off x="777240" y="466344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Cloud is more than code</a:t>
            </a:r>
            <a:endParaRPr lang="en-US" sz="1700" dirty="0"/>
          </a:p>
        </p:txBody>
      </p:sp>
      <p:sp>
        <p:nvSpPr>
          <p:cNvPr id="22" name="Text 16"/>
          <p:cNvSpPr txBox="1"/>
          <p:nvPr/>
        </p:nvSpPr>
        <p:spPr>
          <a:xfrm>
            <a:off x="777240" y="5074920"/>
            <a:ext cx="3108960" cy="822960"/>
          </a:xfrm>
          <a:prstGeom prst="rect">
            <a:avLst/>
          </a:prstGeom>
          <a:noFill/>
          <a:ln/>
        </p:spPr>
        <p:txBody>
          <a:bodyPr wrap="square" lIns="0" tIns="0" rIns="0" bIns="0" rtlCol="0" anchor="ctr"/>
          <a:lstStyle/>
          <a:p>
            <a:pPr indent="0" marL="0">
              <a:buNone/>
            </a:pPr>
            <a:r>
              <a:rPr lang="en-US" sz="1300" dirty="0">
                <a:solidFill>
                  <a:schemeClr val="tx2"/>
                </a:solidFill>
              </a:rPr>
              <a:t>An org SCP blocked EKS, a resolver dropped IAM calls, a new account could not create load balancers - read the error, then adapt.</a:t>
            </a:r>
            <a:endParaRPr lang="en-US" sz="1300" dirty="0"/>
          </a:p>
        </p:txBody>
      </p:sp>
      <p:sp>
        <p:nvSpPr>
          <p:cNvPr id="23" name="Secure by default is cheap"/>
          <p:cNvSpPr/>
          <p:nvPr/>
        </p:nvSpPr>
        <p:spPr>
          <a:xfrm>
            <a:off x="4297680" y="3794760"/>
            <a:ext cx="3520440" cy="2194560"/>
          </a:xfrm>
          <a:prstGeom prst="roundRect">
            <a:avLst>
              <a:gd name="adj" fmla="val 5000"/>
            </a:avLst>
          </a:prstGeom>
          <a:solidFill>
            <a:srgbClr val="F8FAFC"/>
          </a:solidFill>
          <a:ln w="12700">
            <a:solidFill>
              <a:srgbClr val="E2E8F0"/>
            </a:solidFill>
            <a:prstDash val="solid"/>
          </a:ln>
        </p:spPr>
      </p:sp>
      <p:sp>
        <p:nvSpPr>
          <p:cNvPr id="24" name="icon circle"/>
          <p:cNvSpPr/>
          <p:nvPr/>
        </p:nvSpPr>
        <p:spPr>
          <a:xfrm>
            <a:off x="4526280" y="4023360"/>
            <a:ext cx="548640" cy="548640"/>
          </a:xfrm>
          <a:prstGeom prst="ellipse">
            <a:avLst/>
          </a:prstGeom>
          <a:solidFill>
            <a:srgbClr val="10B981"/>
          </a:solidFill>
          <a:ln w="12700">
            <a:solidFill>
              <a:srgbClr val="10B981"/>
            </a:solidFill>
            <a:prstDash val="solid"/>
          </a:ln>
        </p:spPr>
      </p:sp>
      <p:pic>
        <p:nvPicPr>
          <p:cNvPr id="25" name="icon" descr="preencoded.png">    </p:cNvPr>
          <p:cNvPicPr>
            <a:picLocks noChangeAspect="1"/>
          </p:cNvPicPr>
          <p:nvPr/>
        </p:nvPicPr>
        <p:blipFill>
          <a:blip r:embed="rId5"/>
          <a:stretch>
            <a:fillRect/>
          </a:stretch>
        </p:blipFill>
        <p:spPr>
          <a:xfrm>
            <a:off x="4657954" y="4155034"/>
            <a:ext cx="285293" cy="285293"/>
          </a:xfrm>
          <a:prstGeom prst="rect">
            <a:avLst/>
          </a:prstGeom>
        </p:spPr>
      </p:pic>
      <p:sp>
        <p:nvSpPr>
          <p:cNvPr id="26" name="Text 19"/>
          <p:cNvSpPr txBox="1"/>
          <p:nvPr/>
        </p:nvSpPr>
        <p:spPr>
          <a:xfrm>
            <a:off x="4526280" y="466344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Secure by default is cheap</a:t>
            </a:r>
            <a:endParaRPr lang="en-US" sz="1700" dirty="0"/>
          </a:p>
        </p:txBody>
      </p:sp>
      <p:sp>
        <p:nvSpPr>
          <p:cNvPr id="27" name="Text 20"/>
          <p:cNvSpPr txBox="1"/>
          <p:nvPr/>
        </p:nvSpPr>
        <p:spPr>
          <a:xfrm>
            <a:off x="4526280" y="5074920"/>
            <a:ext cx="3108960" cy="822960"/>
          </a:xfrm>
          <a:prstGeom prst="rect">
            <a:avLst/>
          </a:prstGeom>
          <a:noFill/>
          <a:ln/>
        </p:spPr>
        <p:txBody>
          <a:bodyPr wrap="square" lIns="0" tIns="0" rIns="0" bIns="0" rtlCol="0" anchor="ctr"/>
          <a:lstStyle/>
          <a:p>
            <a:pPr indent="0" marL="0">
              <a:buNone/>
            </a:pPr>
            <a:r>
              <a:rPr lang="en-US" sz="1300" dirty="0">
                <a:solidFill>
                  <a:schemeClr val="tx2"/>
                </a:solidFill>
              </a:rPr>
              <a:t>Non-root, read-only FS and drop-all capabilities cost a few lines once; the namespace now rejects any pod that breaks them.</a:t>
            </a:r>
            <a:endParaRPr lang="en-US" sz="1300" dirty="0"/>
          </a:p>
        </p:txBody>
      </p:sp>
      <p:sp>
        <p:nvSpPr>
          <p:cNvPr id="28" name="Measure what users feel"/>
          <p:cNvSpPr/>
          <p:nvPr/>
        </p:nvSpPr>
        <p:spPr>
          <a:xfrm>
            <a:off x="8046720" y="3794760"/>
            <a:ext cx="3520440" cy="2194560"/>
          </a:xfrm>
          <a:prstGeom prst="roundRect">
            <a:avLst>
              <a:gd name="adj" fmla="val 5000"/>
            </a:avLst>
          </a:prstGeom>
          <a:solidFill>
            <a:srgbClr val="F8FAFC"/>
          </a:solidFill>
          <a:ln w="12700">
            <a:solidFill>
              <a:srgbClr val="E2E8F0"/>
            </a:solidFill>
            <a:prstDash val="solid"/>
          </a:ln>
        </p:spPr>
      </p:sp>
      <p:sp>
        <p:nvSpPr>
          <p:cNvPr id="29" name="icon circle"/>
          <p:cNvSpPr/>
          <p:nvPr/>
        </p:nvSpPr>
        <p:spPr>
          <a:xfrm>
            <a:off x="8275320" y="4023360"/>
            <a:ext cx="548640" cy="548640"/>
          </a:xfrm>
          <a:prstGeom prst="ellipse">
            <a:avLst/>
          </a:prstGeom>
          <a:solidFill>
            <a:srgbClr val="0F172A"/>
          </a:solidFill>
          <a:ln w="12700">
            <a:solidFill>
              <a:srgbClr val="0F172A"/>
            </a:solidFill>
            <a:prstDash val="solid"/>
          </a:ln>
        </p:spPr>
      </p:sp>
      <p:pic>
        <p:nvPicPr>
          <p:cNvPr id="30" name="icon" descr="preencoded.png">    </p:cNvPr>
          <p:cNvPicPr>
            <a:picLocks noChangeAspect="1"/>
          </p:cNvPicPr>
          <p:nvPr/>
        </p:nvPicPr>
        <p:blipFill>
          <a:blip r:embed="rId6"/>
          <a:stretch>
            <a:fillRect/>
          </a:stretch>
        </p:blipFill>
        <p:spPr>
          <a:xfrm>
            <a:off x="8406994" y="4155034"/>
            <a:ext cx="285293" cy="285293"/>
          </a:xfrm>
          <a:prstGeom prst="rect">
            <a:avLst/>
          </a:prstGeom>
        </p:spPr>
      </p:pic>
      <p:sp>
        <p:nvSpPr>
          <p:cNvPr id="31" name="Text 23"/>
          <p:cNvSpPr txBox="1"/>
          <p:nvPr/>
        </p:nvSpPr>
        <p:spPr>
          <a:xfrm>
            <a:off x="8275320" y="466344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Measure what users feel</a:t>
            </a:r>
            <a:endParaRPr lang="en-US" sz="1700" dirty="0"/>
          </a:p>
        </p:txBody>
      </p:sp>
      <p:sp>
        <p:nvSpPr>
          <p:cNvPr id="32" name="Text 24"/>
          <p:cNvSpPr txBox="1"/>
          <p:nvPr/>
        </p:nvSpPr>
        <p:spPr>
          <a:xfrm>
            <a:off x="8275320" y="5074920"/>
            <a:ext cx="3108960" cy="822960"/>
          </a:xfrm>
          <a:prstGeom prst="rect">
            <a:avLst/>
          </a:prstGeom>
          <a:noFill/>
          <a:ln/>
        </p:spPr>
        <p:txBody>
          <a:bodyPr wrap="square" lIns="0" tIns="0" rIns="0" bIns="0" rtlCol="0" anchor="ctr"/>
          <a:lstStyle/>
          <a:p>
            <a:pPr indent="0" marL="0">
              <a:buNone/>
            </a:pPr>
            <a:r>
              <a:rPr lang="en-US" sz="1300" dirty="0">
                <a:solidFill>
                  <a:schemeClr val="tx2"/>
                </a:solidFill>
              </a:rPr>
              <a:t>Latency and booking counters say more about the studio than CPU graphs alone.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icon circle"/>
          <p:cNvSpPr/>
          <p:nvPr/>
        </p:nvSpPr>
        <p:spPr>
          <a:xfrm>
            <a:off x="731520" y="731520"/>
            <a:ext cx="731520" cy="731520"/>
          </a:xfrm>
          <a:prstGeom prst="ellipse">
            <a:avLst/>
          </a:prstGeom>
          <a:solidFill>
            <a:srgbClr val="10B981"/>
          </a:solidFill>
          <a:ln w="12700">
            <a:solidFill>
              <a:srgbClr val="10B981"/>
            </a:solidFill>
            <a:prstDash val="solid"/>
          </a:ln>
        </p:spPr>
      </p:sp>
      <p:pic>
        <p:nvPicPr>
          <p:cNvPr id="3" name="icon" descr="preencoded.png">    </p:cNvPr>
          <p:cNvPicPr>
            <a:picLocks noChangeAspect="1"/>
          </p:cNvPicPr>
          <p:nvPr/>
        </p:nvPicPr>
        <p:blipFill>
          <a:blip r:embed="rId1"/>
          <a:stretch>
            <a:fillRect/>
          </a:stretch>
        </p:blipFill>
        <p:spPr>
          <a:xfrm>
            <a:off x="907085" y="907085"/>
            <a:ext cx="380390" cy="380390"/>
          </a:xfrm>
          <a:prstGeom prst="rect">
            <a:avLst/>
          </a:prstGeom>
        </p:spPr>
      </p:pic>
      <p:sp>
        <p:nvSpPr>
          <p:cNvPr id="4" name="Text 1"/>
          <p:cNvSpPr txBox="1"/>
          <p:nvPr/>
        </p:nvSpPr>
        <p:spPr>
          <a:xfrm>
            <a:off x="731520" y="1828800"/>
            <a:ext cx="10058400" cy="1005840"/>
          </a:xfrm>
          <a:prstGeom prst="rect">
            <a:avLst/>
          </a:prstGeom>
          <a:noFill/>
          <a:ln/>
        </p:spPr>
        <p:txBody>
          <a:bodyPr wrap="square" lIns="0" tIns="0" rIns="0" bIns="0" rtlCol="0" anchor="ctr"/>
          <a:lstStyle/>
          <a:p>
            <a:pPr indent="0" marL="0">
              <a:buNone/>
            </a:pPr>
            <a:r>
              <a:rPr lang="en-US" sz="5600" b="1" dirty="0">
                <a:solidFill>
                  <a:schemeClr val="bg1"/>
                </a:solidFill>
              </a:rPr>
              <a:t>Thank you</a:t>
            </a:r>
            <a:endParaRPr lang="en-US" sz="5600" dirty="0"/>
          </a:p>
        </p:txBody>
      </p:sp>
      <p:sp>
        <p:nvSpPr>
          <p:cNvPr id="5" name="Text 2"/>
          <p:cNvSpPr txBox="1"/>
          <p:nvPr/>
        </p:nvSpPr>
        <p:spPr>
          <a:xfrm>
            <a:off x="731520" y="2926080"/>
            <a:ext cx="10515600" cy="914400"/>
          </a:xfrm>
          <a:prstGeom prst="rect">
            <a:avLst/>
          </a:prstGeom>
          <a:noFill/>
          <a:ln/>
        </p:spPr>
        <p:txBody>
          <a:bodyPr wrap="square" lIns="0" tIns="0" rIns="0" bIns="0" rtlCol="0" anchor="ctr"/>
          <a:lstStyle/>
          <a:p>
            <a:pPr indent="0" marL="0">
              <a:buNone/>
            </a:pPr>
            <a:r>
              <a:rPr lang="en-US" sz="2000" dirty="0">
                <a:solidFill>
                  <a:srgbClr val="C7D2FE"/>
                </a:solidFill>
              </a:rPr>
              <a:t>Next steps: Amazon RDS instead of in-cluster Postgres · TLS with ACM and Route 53 · OIDC login for staff · request-based autoscaling with KEDA</a:t>
            </a:r>
            <a:endParaRPr lang="en-US" sz="2000" dirty="0"/>
          </a:p>
        </p:txBody>
      </p:sp>
      <p:sp>
        <p:nvSpPr>
          <p:cNvPr id="6" name="Text 3"/>
          <p:cNvSpPr txBox="1"/>
          <p:nvPr/>
        </p:nvSpPr>
        <p:spPr>
          <a:xfrm>
            <a:off x="731520" y="4480560"/>
            <a:ext cx="10058400" cy="1280160"/>
          </a:xfrm>
          <a:prstGeom prst="rect">
            <a:avLst/>
          </a:prstGeom>
          <a:noFill/>
          <a:ln/>
        </p:spPr>
        <p:txBody>
          <a:bodyPr wrap="square" lIns="0" tIns="0" rIns="0" bIns="0" rtlCol="0" anchor="ctr"/>
          <a:lstStyle/>
          <a:p>
            <a:pPr indent="0" marL="0">
              <a:spcAft>
                <a:spcPts val="600"/>
              </a:spcAft>
              <a:buNone/>
            </a:pPr>
            <a:r>
              <a:rPr lang="en-US" sz="1600" b="1" dirty="0">
                <a:solidFill>
                  <a:srgbClr val="FFFFFF"/>
                </a:solidFill>
              </a:rPr>
              <a:t>Repository  </a:t>
            </a:r>
            <a:pPr indent="0" marL="0">
              <a:spcAft>
                <a:spcPts val="600"/>
              </a:spcAft>
              <a:buNone/>
            </a:pPr>
            <a:r>
              <a:rPr lang="en-US" sz="1600" dirty="0">
                <a:solidFill>
                  <a:srgbClr val="CBD5E1"/>
                </a:solidFill>
              </a:rPr>
              <a:t>github.com/anushkabhansalii/apoointment-booking-devops-project</a:t>
            </a:r>
            <a:endParaRPr lang="en-US" sz="1600" dirty="0"/>
          </a:p>
          <a:p>
            <a:pPr indent="0" marL="0">
              <a:spcAft>
                <a:spcPts val="600"/>
              </a:spcAft>
              <a:buNone/>
            </a:pPr>
            <a:r>
              <a:rPr lang="en-US" sz="1600" b="1" dirty="0">
                <a:solidFill>
                  <a:srgbClr val="FFFFFF"/>
                </a:solidFill>
              </a:rPr>
              <a:t>Demo video  </a:t>
            </a:r>
            <a:pPr indent="0" marL="0">
              <a:spcAft>
                <a:spcPts val="600"/>
              </a:spcAft>
              <a:buNone/>
            </a:pPr>
            <a:r>
              <a:rPr lang="en-US" sz="1600" dirty="0">
                <a:solidFill>
                  <a:srgbClr val="CBD5E1"/>
                </a:solidFill>
              </a:rPr>
              <a:t>demo/presentation.mp4</a:t>
            </a:r>
            <a:endParaRPr lang="en-US" sz="1600" dirty="0"/>
          </a:p>
          <a:p>
            <a:pPr indent="0" marL="0">
              <a:spcAft>
                <a:spcPts val="600"/>
              </a:spcAft>
              <a:buNone/>
            </a:pPr>
            <a:r>
              <a:rPr lang="en-US" sz="1600" b="1" dirty="0">
                <a:solidFill>
                  <a:srgbClr val="FFFFFF"/>
                </a:solidFill>
              </a:rPr>
              <a:t>Evidence  </a:t>
            </a:r>
            <a:pPr indent="0" marL="0">
              <a:spcAft>
                <a:spcPts val="600"/>
              </a:spcAft>
              <a:buNone/>
            </a:pPr>
            <a:r>
              <a:rPr lang="en-US" sz="1600" dirty="0">
                <a:solidFill>
                  <a:srgbClr val="CBD5E1"/>
                </a:solidFill>
              </a:rPr>
              <a:t>docs/EVIDENCE.md</a:t>
            </a:r>
            <a:endParaRPr lang="en-US" sz="1600" dirty="0"/>
          </a:p>
        </p:txBody>
      </p:sp>
    </p:spTree>
  </p:cSld>
  <p:clrMapOvr>
    <a:masterClrMapping/>
  </p:clrMapOvr>
</p:sld>
</file>

<file path=ppt/theme/theme1.xml><?xml version="1.0" encoding="utf-8"?>
<a:theme xmlns:a="http://schemas.openxmlformats.org/drawingml/2006/main" name="SlotSync">
  <a:themeElements>
    <a:clrScheme name="SlotSync">
      <a:dk1>
        <a:srgbClr val="0F172A"/>
      </a:dk1>
      <a:lt1>
        <a:srgbClr val="FFFFFF"/>
      </a:lt1>
      <a:dk2>
        <a:srgbClr val="334155"/>
      </a:dk2>
      <a:lt2>
        <a:srgbClr val="EEF2FF"/>
      </a:lt2>
      <a:accent1>
        <a:srgbClr val="6366F1"/>
      </a:accent1>
      <a:accent2>
        <a:srgbClr val="10B981"/>
      </a:accent2>
      <a:accent3>
        <a:srgbClr val="F59E0B"/>
      </a:accent3>
      <a:accent4>
        <a:srgbClr val="EC4899"/>
      </a:accent4>
      <a:accent5>
        <a:srgbClr val="0EA5E9"/>
      </a:accent5>
      <a:accent6>
        <a:srgbClr val="94A3B8"/>
      </a:accent6>
      <a:hlink>
        <a:srgbClr val="4F46E5"/>
      </a:hlink>
      <a:folHlink>
        <a:srgbClr val="7C3AED"/>
      </a:folHlink>
    </a:clrScheme>
    <a:fontScheme name="SlotSyn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SlotSync - DevOps Capstone</dc:title>
  <dc:subject>Appointment booking platform: app, CI/CD, DevSecOps, Terraform, EKS, Helm, Argo CD, Prometheus, Grafana</dc:subject>
  <dc:creator>Anushka Jain</dc:creator>
  <cp:lastModifiedBy>Anushka Jain</cp:lastModifiedBy>
  <cp:revision>1</cp:revision>
  <dcterms:created xsi:type="dcterms:W3CDTF">2026-10-16T13:32:31Z</dcterms:created>
  <dcterms:modified xsi:type="dcterms:W3CDTF">2026-10-16T13:32:31Z</dcterms:modified>
</cp:coreProperties>
</file>